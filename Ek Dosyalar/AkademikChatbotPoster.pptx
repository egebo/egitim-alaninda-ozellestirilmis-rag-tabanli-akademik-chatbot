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5203150" cy="36004500"/>
  <p:notesSz cx="36004500" cy="252031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6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1843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077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bin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203150" cy="36004500"/>
          </a:xfrm>
          <a:prstGeom prst="rect">
            <a:avLst/>
          </a:prstGeom>
          <a:ln/>
          <a:effectLst>
            <a:outerShdw blurRad="1270000" dist="4762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203150" cy="5639017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47750" y="658957"/>
            <a:ext cx="133350" cy="133350"/>
          </a:xfrm>
          <a:prstGeom prst="ellipse">
            <a:avLst/>
          </a:prstGeom>
          <a:solidFill>
            <a:srgbClr val="56D08A"/>
          </a:solidFill>
          <a:ln/>
          <a:effectLst>
            <a:outerShdw blurRad="101600" dist="50800" dir="16200000" algn="bl" rotWithShape="0">
              <a:srgbClr val="56D08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409700" y="552450"/>
            <a:ext cx="9603610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E6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SAKARYA ÜNIVERSITESI · BILGISAYAR MÜHENDISLIĞI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962193" y="592282"/>
            <a:ext cx="9525" cy="2667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1200318" y="552450"/>
            <a:ext cx="7724628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E6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BSM 498 BITIRME ÇALIŞMASI · 2025–2026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1222664"/>
            <a:ext cx="18640425" cy="211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9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Eğitim Alanında Özelleştirilmiş </a:t>
            </a:r>
            <a:r>
              <a:rPr lang="en-US" sz="7800" b="1" i="1" kern="0" spc="-94" dirty="0">
                <a:solidFill>
                  <a:srgbClr val="F0B5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 Tabanlı </a:t>
            </a:r>
            <a:r>
              <a:rPr lang="en-US" sz="7800" b="1" kern="0" spc="-94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Akademik Chatbot</a:t>
            </a:r>
            <a:endParaRPr lang="en-US" sz="7800" dirty="0"/>
          </a:p>
        </p:txBody>
      </p:sp>
      <p:sp>
        <p:nvSpPr>
          <p:cNvPr id="9" name="Shape 7"/>
          <p:cNvSpPr/>
          <p:nvPr/>
        </p:nvSpPr>
        <p:spPr>
          <a:xfrm>
            <a:off x="1047750" y="3664744"/>
            <a:ext cx="2310765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47750" y="4184290"/>
            <a:ext cx="3217815" cy="668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35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Egemen Bozca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47750" y="4871821"/>
            <a:ext cx="3217815" cy="329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6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B221210037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781442" y="4450664"/>
            <a:ext cx="3591849" cy="308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D0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DANIŞMAN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81442" y="4797028"/>
            <a:ext cx="3591849" cy="40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7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Cüneyt Bayılmış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78274" y="4496450"/>
            <a:ext cx="4179714" cy="308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D0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ANABILIM DALI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78274" y="4842814"/>
            <a:ext cx="4179714" cy="358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dirty="0">
                <a:solidFill>
                  <a:srgbClr val="E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ve Bilişim Bilimleri Fakültesi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203066" y="3957421"/>
            <a:ext cx="865368" cy="526473"/>
          </a:xfrm>
          <a:prstGeom prst="roundRect">
            <a:avLst>
              <a:gd name="adj" fmla="val 50000"/>
            </a:avLst>
          </a:prstGeom>
          <a:solidFill>
            <a:srgbClr val="963741">
              <a:alpha val="28000"/>
            </a:srgbClr>
          </a:solidFill>
          <a:ln w="6927">
            <a:solidFill>
              <a:srgbClr val="E0A0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0438594" y="4078649"/>
            <a:ext cx="470513" cy="322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0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21220834" y="3957421"/>
            <a:ext cx="1916798" cy="526473"/>
          </a:xfrm>
          <a:prstGeom prst="roundRect">
            <a:avLst>
              <a:gd name="adj" fmla="val 50000"/>
            </a:avLst>
          </a:prstGeom>
          <a:solidFill>
            <a:srgbClr val="963741">
              <a:alpha val="28000"/>
            </a:srgbClr>
          </a:solidFill>
          <a:ln w="6927">
            <a:solidFill>
              <a:srgbClr val="E0A0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21456362" y="4078649"/>
            <a:ext cx="1521944" cy="322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0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Text-to-SQL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23290032" y="3957421"/>
            <a:ext cx="865368" cy="526473"/>
          </a:xfrm>
          <a:prstGeom prst="roundRect">
            <a:avLst>
              <a:gd name="adj" fmla="val 50000"/>
            </a:avLst>
          </a:prstGeom>
          <a:solidFill>
            <a:srgbClr val="963741">
              <a:alpha val="28000"/>
            </a:srgbClr>
          </a:solidFill>
          <a:ln w="6927">
            <a:solidFill>
              <a:srgbClr val="E0A0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3525560" y="4078649"/>
            <a:ext cx="470513" cy="322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0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8592367" y="4636294"/>
            <a:ext cx="2968120" cy="526473"/>
          </a:xfrm>
          <a:prstGeom prst="roundRect">
            <a:avLst>
              <a:gd name="adj" fmla="val 50000"/>
            </a:avLst>
          </a:prstGeom>
          <a:solidFill>
            <a:srgbClr val="963741">
              <a:alpha val="28000"/>
            </a:srgbClr>
          </a:solidFill>
          <a:ln w="6927">
            <a:solidFill>
              <a:srgbClr val="E0A0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8827894" y="4757521"/>
            <a:ext cx="2586109" cy="322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0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Niyet Sınıflandırma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21712887" y="4636294"/>
            <a:ext cx="2442513" cy="526473"/>
          </a:xfrm>
          <a:prstGeom prst="roundRect">
            <a:avLst>
              <a:gd name="adj" fmla="val 50000"/>
            </a:avLst>
          </a:prstGeom>
          <a:solidFill>
            <a:srgbClr val="963741">
              <a:alpha val="28000"/>
            </a:srgbClr>
          </a:solidFill>
          <a:ln w="6927">
            <a:solidFill>
              <a:srgbClr val="E0A0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1948414" y="4757521"/>
            <a:ext cx="2047659" cy="322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0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Ajansal Chatbot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914400" y="5923094"/>
            <a:ext cx="23374350" cy="2673278"/>
          </a:xfrm>
          <a:prstGeom prst="roundRect">
            <a:avLst>
              <a:gd name="adj" fmla="val 6413"/>
            </a:avLst>
          </a:prstGeom>
          <a:solidFill>
            <a:srgbClr val="F8F2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914400" y="8589444"/>
            <a:ext cx="23374350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914400" y="5923094"/>
            <a:ext cx="23374350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914400" y="5923094"/>
            <a:ext cx="90055" cy="2673278"/>
          </a:xfrm>
          <a:prstGeom prst="rect">
            <a:avLst/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24281823" y="5923094"/>
            <a:ext cx="9525" cy="2673278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1423554" y="6234821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1385454" y="6234821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2185554" y="6272921"/>
            <a:ext cx="1104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Özet</a:t>
            </a:r>
            <a:endParaRPr lang="en-US" sz="3750" dirty="0"/>
          </a:p>
        </p:txBody>
      </p:sp>
      <p:sp>
        <p:nvSpPr>
          <p:cNvPr id="34" name="Shape 32"/>
          <p:cNvSpPr/>
          <p:nvPr/>
        </p:nvSpPr>
        <p:spPr>
          <a:xfrm>
            <a:off x="3404754" y="6501521"/>
            <a:ext cx="20457970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1423554" y="6977771"/>
            <a:ext cx="23112345" cy="1344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2325" dirty="0">
                <a:solidFill>
                  <a:srgbClr val="2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kurumları için geliştirilmiş </a:t>
            </a:r>
            <a:r>
              <a:rPr lang="en-US" sz="2325" b="1" dirty="0">
                <a:solidFill>
                  <a:srgbClr val="9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ajansal bir RAG tabanlı chatbot </a:t>
            </a:r>
            <a:r>
              <a:rPr lang="en-US" sz="2325" dirty="0">
                <a:solidFill>
                  <a:srgbClr val="2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sistemi. Temel yenilik, her kullanıcı sorgusunu beş kategoriye (DB_QUERY, SEARCH, GENERAL, META, DOCUMENT) ayıran </a:t>
            </a:r>
            <a:r>
              <a:rPr lang="en-US" sz="2325" b="1" dirty="0">
                <a:solidFill>
                  <a:srgbClr val="2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niyet-yönlendirmeli mimaride </a:t>
            </a:r>
            <a:r>
              <a:rPr lang="en-US" sz="2325" dirty="0">
                <a:solidFill>
                  <a:srgbClr val="2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yatar; sorgu buna göre veri tabanı, belge, internet araması veya genel sohbet pipeline'ına yönlendirilir. Few-shot RAG ile </a:t>
            </a:r>
            <a:r>
              <a:rPr lang="en-US" sz="2325" b="1" dirty="0">
                <a:solidFill>
                  <a:srgbClr val="2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</a:t>
            </a:r>
            <a:r>
              <a:rPr lang="en-US" sz="2325" dirty="0">
                <a:solidFill>
                  <a:srgbClr val="2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doğruluğu %67'den %90'a çıkarılmış, eşik kontrollü belge RAG'ı kapsam dışı sorguları %100 reddetmiş, hibrit niyet sınıflandırması %92 doğruluğa ulaşmıştır.</a:t>
            </a:r>
            <a:endParaRPr lang="en-US" sz="2325" dirty="0"/>
          </a:p>
        </p:txBody>
      </p:sp>
      <p:sp>
        <p:nvSpPr>
          <p:cNvPr id="36" name="Shape 34"/>
          <p:cNvSpPr/>
          <p:nvPr/>
        </p:nvSpPr>
        <p:spPr>
          <a:xfrm>
            <a:off x="907473" y="8921895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869373" y="892189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669473" y="8959995"/>
            <a:ext cx="39645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&amp; Amaç</a:t>
            </a:r>
            <a:endParaRPr lang="en-US" sz="3750" dirty="0"/>
          </a:p>
        </p:txBody>
      </p:sp>
      <p:sp>
        <p:nvSpPr>
          <p:cNvPr id="39" name="Shape 37"/>
          <p:cNvSpPr/>
          <p:nvPr/>
        </p:nvSpPr>
        <p:spPr>
          <a:xfrm>
            <a:off x="5709047" y="9188595"/>
            <a:ext cx="2685076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907473" y="9683895"/>
            <a:ext cx="7711250" cy="1903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kurumlarda öğrenciler not bilgisi, ders programı, akademisyen iletişimi ve kurumsal belgelere erişmek için </a:t>
            </a:r>
            <a:r>
              <a:rPr lang="en-US" sz="2025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sistemler arasında geçiş </a:t>
            </a: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yapmak zorunda kalır. Salt LLM kullanımı ise hallüsinasyon, güncel bilgi eksikliği ve alan bilgisi yetersizliği gibi kısıtlar getirir.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907473" y="11503603"/>
            <a:ext cx="7711250" cy="785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akademik bilgi erişimini </a:t>
            </a:r>
            <a:r>
              <a:rPr lang="en-US" sz="2025" b="1" dirty="0">
                <a:solidFill>
                  <a:srgbClr val="9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birleşik arayüz </a:t>
            </a: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altında toplayan, niyet-yönlendirmeli bir RAG chatbotu geliştirmek.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1240848" y="12376700"/>
            <a:ext cx="7367873" cy="39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 sorgularından </a:t>
            </a: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üretimi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çalıştırma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240848" y="12865614"/>
            <a:ext cx="7367873" cy="39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PDF/Excel belgelerinden </a:t>
            </a: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bağlama duyarlı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çekimi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240848" y="13354528"/>
            <a:ext cx="7367873" cy="39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 tabanlı </a:t>
            </a: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çok-modlu yönlendirme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240848" y="13843442"/>
            <a:ext cx="7367873" cy="39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</a:t>
            </a: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 maliyet takibi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914400" y="14578786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876300" y="145787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676400" y="14616886"/>
            <a:ext cx="17626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Mimari</a:t>
            </a:r>
            <a:endParaRPr lang="en-US" sz="3750" dirty="0"/>
          </a:p>
        </p:txBody>
      </p:sp>
      <p:sp>
        <p:nvSpPr>
          <p:cNvPr id="49" name="Shape 47"/>
          <p:cNvSpPr/>
          <p:nvPr/>
        </p:nvSpPr>
        <p:spPr>
          <a:xfrm>
            <a:off x="3553366" y="14845486"/>
            <a:ext cx="4847684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914400" y="15340786"/>
            <a:ext cx="771125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ana bileşen tek bir Flask uygulamasında birleşir. Yüklü belge varsa, yönlendirmeden önce RAG sorgulama her zaman önceliklidir.</a:t>
            </a:r>
            <a:endParaRPr lang="en-US" sz="2025" dirty="0"/>
          </a:p>
        </p:txBody>
      </p:sp>
      <p:sp>
        <p:nvSpPr>
          <p:cNvPr id="51" name="Shape 49"/>
          <p:cNvSpPr/>
          <p:nvPr/>
        </p:nvSpPr>
        <p:spPr>
          <a:xfrm>
            <a:off x="914400" y="16309955"/>
            <a:ext cx="7486650" cy="5634471"/>
          </a:xfrm>
          <a:prstGeom prst="roundRect">
            <a:avLst>
              <a:gd name="adj" fmla="val 3043"/>
            </a:avLst>
          </a:prstGeom>
          <a:solidFill>
            <a:srgbClr val="F8F2EA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1207077" y="16640732"/>
            <a:ext cx="6901296" cy="926198"/>
          </a:xfrm>
          <a:prstGeom prst="roundRect">
            <a:avLst>
              <a:gd name="adj" fmla="val 14398"/>
            </a:avLst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1299772" y="16812182"/>
            <a:ext cx="6715904" cy="33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Sorgusu</a:t>
            </a:r>
            <a:endParaRPr lang="en-US" sz="2025" dirty="0"/>
          </a:p>
        </p:txBody>
      </p:sp>
      <p:sp>
        <p:nvSpPr>
          <p:cNvPr id="54" name="Text 52"/>
          <p:cNvSpPr/>
          <p:nvPr/>
        </p:nvSpPr>
        <p:spPr>
          <a:xfrm>
            <a:off x="1299772" y="17155515"/>
            <a:ext cx="6715904" cy="27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75" dirty="0">
                <a:solidFill>
                  <a:srgbClr val="E6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doğal dil</a:t>
            </a:r>
            <a:endParaRPr lang="en-US" sz="1575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17652655"/>
            <a:ext cx="247650" cy="247650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1207077" y="17986030"/>
            <a:ext cx="6901296" cy="953907"/>
          </a:xfrm>
          <a:prstGeom prst="roundRect">
            <a:avLst>
              <a:gd name="adj" fmla="val 13979"/>
            </a:avLst>
          </a:prstGeom>
          <a:solidFill>
            <a:srgbClr val="FFFFFF"/>
          </a:solidFill>
          <a:ln w="13855">
            <a:solidFill>
              <a:srgbClr val="9E2A3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4"/>
          <p:cNvSpPr/>
          <p:nvPr/>
        </p:nvSpPr>
        <p:spPr>
          <a:xfrm>
            <a:off x="1314043" y="18171335"/>
            <a:ext cx="6687364" cy="33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 Ön Filtresi</a:t>
            </a:r>
            <a:endParaRPr lang="en-US" sz="2025" dirty="0"/>
          </a:p>
        </p:txBody>
      </p:sp>
      <p:sp>
        <p:nvSpPr>
          <p:cNvPr id="58" name="Text 55"/>
          <p:cNvSpPr/>
          <p:nvPr/>
        </p:nvSpPr>
        <p:spPr>
          <a:xfrm>
            <a:off x="1314043" y="18514668"/>
            <a:ext cx="6687364" cy="27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7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%74 sorgu LLM'siz sınıflanır</a:t>
            </a:r>
            <a:endParaRPr lang="en-US" sz="1575" dirty="0"/>
          </a:p>
        </p:txBody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19025662"/>
            <a:ext cx="247650" cy="247650"/>
          </a:xfrm>
          <a:prstGeom prst="rect">
            <a:avLst/>
          </a:prstGeom>
        </p:spPr>
      </p:pic>
      <p:sp>
        <p:nvSpPr>
          <p:cNvPr id="60" name="Shape 56"/>
          <p:cNvSpPr/>
          <p:nvPr/>
        </p:nvSpPr>
        <p:spPr>
          <a:xfrm>
            <a:off x="1207077" y="19359037"/>
            <a:ext cx="6901296" cy="926198"/>
          </a:xfrm>
          <a:prstGeom prst="roundRect">
            <a:avLst>
              <a:gd name="adj" fmla="val 14398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1" name="Text 57"/>
          <p:cNvSpPr/>
          <p:nvPr/>
        </p:nvSpPr>
        <p:spPr>
          <a:xfrm>
            <a:off x="1299772" y="19530487"/>
            <a:ext cx="6715904" cy="33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 Sınıflandırıcı</a:t>
            </a:r>
            <a:endParaRPr lang="en-US" sz="2025" dirty="0"/>
          </a:p>
        </p:txBody>
      </p:sp>
      <p:sp>
        <p:nvSpPr>
          <p:cNvPr id="62" name="Text 58"/>
          <p:cNvSpPr/>
          <p:nvPr/>
        </p:nvSpPr>
        <p:spPr>
          <a:xfrm>
            <a:off x="1299772" y="19873820"/>
            <a:ext cx="6715904" cy="27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75" dirty="0">
                <a:solidFill>
                  <a:srgbClr val="F3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· 5 kategori</a:t>
            </a:r>
            <a:endParaRPr lang="en-US" sz="1575" dirty="0"/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77" y="20304285"/>
            <a:ext cx="6901296" cy="381000"/>
          </a:xfrm>
          <a:prstGeom prst="rect">
            <a:avLst/>
          </a:prstGeom>
        </p:spPr>
      </p:pic>
      <p:sp>
        <p:nvSpPr>
          <p:cNvPr id="64" name="Shape 59"/>
          <p:cNvSpPr/>
          <p:nvPr/>
        </p:nvSpPr>
        <p:spPr>
          <a:xfrm>
            <a:off x="1207077" y="20856735"/>
            <a:ext cx="1288797" cy="756913"/>
          </a:xfrm>
          <a:prstGeom prst="roundRect">
            <a:avLst>
              <a:gd name="adj" fmla="val 15101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0"/>
          <p:cNvSpPr/>
          <p:nvPr/>
        </p:nvSpPr>
        <p:spPr>
          <a:xfrm>
            <a:off x="1252104" y="20997012"/>
            <a:ext cx="1198743" cy="25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E1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DB_QUERY</a:t>
            </a:r>
            <a:endParaRPr lang="en-US" sz="1350" dirty="0"/>
          </a:p>
        </p:txBody>
      </p:sp>
      <p:sp>
        <p:nvSpPr>
          <p:cNvPr id="66" name="Text 61"/>
          <p:cNvSpPr/>
          <p:nvPr/>
        </p:nvSpPr>
        <p:spPr>
          <a:xfrm>
            <a:off x="1252104" y="21275835"/>
            <a:ext cx="1198743" cy="235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7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275" dirty="0"/>
          </a:p>
        </p:txBody>
      </p:sp>
      <p:sp>
        <p:nvSpPr>
          <p:cNvPr id="67" name="Shape 62"/>
          <p:cNvSpPr/>
          <p:nvPr/>
        </p:nvSpPr>
        <p:spPr>
          <a:xfrm>
            <a:off x="2610174" y="20856735"/>
            <a:ext cx="1288797" cy="756913"/>
          </a:xfrm>
          <a:prstGeom prst="roundRect">
            <a:avLst>
              <a:gd name="adj" fmla="val 15101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3"/>
          <p:cNvSpPr/>
          <p:nvPr/>
        </p:nvSpPr>
        <p:spPr>
          <a:xfrm>
            <a:off x="2655202" y="20997012"/>
            <a:ext cx="1198743" cy="25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E1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1350" dirty="0"/>
          </a:p>
        </p:txBody>
      </p:sp>
      <p:sp>
        <p:nvSpPr>
          <p:cNvPr id="69" name="Text 64"/>
          <p:cNvSpPr/>
          <p:nvPr/>
        </p:nvSpPr>
        <p:spPr>
          <a:xfrm>
            <a:off x="2655202" y="21275835"/>
            <a:ext cx="1198743" cy="235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7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RAG</a:t>
            </a:r>
            <a:endParaRPr lang="en-US" sz="1275" dirty="0"/>
          </a:p>
        </p:txBody>
      </p:sp>
      <p:sp>
        <p:nvSpPr>
          <p:cNvPr id="70" name="Shape 65"/>
          <p:cNvSpPr/>
          <p:nvPr/>
        </p:nvSpPr>
        <p:spPr>
          <a:xfrm>
            <a:off x="4013272" y="20856735"/>
            <a:ext cx="1288797" cy="756913"/>
          </a:xfrm>
          <a:prstGeom prst="roundRect">
            <a:avLst>
              <a:gd name="adj" fmla="val 15101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6"/>
          <p:cNvSpPr/>
          <p:nvPr/>
        </p:nvSpPr>
        <p:spPr>
          <a:xfrm>
            <a:off x="4058299" y="20997012"/>
            <a:ext cx="1198743" cy="25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E1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1350" dirty="0"/>
          </a:p>
        </p:txBody>
      </p:sp>
      <p:sp>
        <p:nvSpPr>
          <p:cNvPr id="72" name="Text 67"/>
          <p:cNvSpPr/>
          <p:nvPr/>
        </p:nvSpPr>
        <p:spPr>
          <a:xfrm>
            <a:off x="4058299" y="21275835"/>
            <a:ext cx="1198743" cy="235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7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tarama</a:t>
            </a:r>
            <a:endParaRPr lang="en-US" sz="1275" dirty="0"/>
          </a:p>
        </p:txBody>
      </p:sp>
      <p:sp>
        <p:nvSpPr>
          <p:cNvPr id="73" name="Shape 68"/>
          <p:cNvSpPr/>
          <p:nvPr/>
        </p:nvSpPr>
        <p:spPr>
          <a:xfrm>
            <a:off x="5416370" y="20856735"/>
            <a:ext cx="1288797" cy="756913"/>
          </a:xfrm>
          <a:prstGeom prst="roundRect">
            <a:avLst>
              <a:gd name="adj" fmla="val 15101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Text 69"/>
          <p:cNvSpPr/>
          <p:nvPr/>
        </p:nvSpPr>
        <p:spPr>
          <a:xfrm>
            <a:off x="5461397" y="20997012"/>
            <a:ext cx="1198743" cy="25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E1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1350" dirty="0"/>
          </a:p>
        </p:txBody>
      </p:sp>
      <p:sp>
        <p:nvSpPr>
          <p:cNvPr id="75" name="Text 70"/>
          <p:cNvSpPr/>
          <p:nvPr/>
        </p:nvSpPr>
        <p:spPr>
          <a:xfrm>
            <a:off x="5461397" y="21275835"/>
            <a:ext cx="1198743" cy="235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7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bilgisi</a:t>
            </a:r>
            <a:endParaRPr lang="en-US" sz="1275" dirty="0"/>
          </a:p>
        </p:txBody>
      </p:sp>
      <p:sp>
        <p:nvSpPr>
          <p:cNvPr id="76" name="Shape 71"/>
          <p:cNvSpPr/>
          <p:nvPr/>
        </p:nvSpPr>
        <p:spPr>
          <a:xfrm>
            <a:off x="6819467" y="20856735"/>
            <a:ext cx="1288906" cy="756913"/>
          </a:xfrm>
          <a:prstGeom prst="roundRect">
            <a:avLst>
              <a:gd name="adj" fmla="val 15101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72"/>
          <p:cNvSpPr/>
          <p:nvPr/>
        </p:nvSpPr>
        <p:spPr>
          <a:xfrm>
            <a:off x="6864494" y="20997012"/>
            <a:ext cx="1198851" cy="25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E1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</a:t>
            </a:r>
            <a:endParaRPr lang="en-US" sz="1350" dirty="0"/>
          </a:p>
        </p:txBody>
      </p:sp>
      <p:sp>
        <p:nvSpPr>
          <p:cNvPr id="78" name="Text 73"/>
          <p:cNvSpPr/>
          <p:nvPr/>
        </p:nvSpPr>
        <p:spPr>
          <a:xfrm>
            <a:off x="6864494" y="21275835"/>
            <a:ext cx="1198851" cy="235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7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sohbet</a:t>
            </a:r>
            <a:endParaRPr lang="en-US" sz="1275" dirty="0"/>
          </a:p>
        </p:txBody>
      </p:sp>
      <p:sp>
        <p:nvSpPr>
          <p:cNvPr id="79" name="Shape 74"/>
          <p:cNvSpPr/>
          <p:nvPr/>
        </p:nvSpPr>
        <p:spPr>
          <a:xfrm>
            <a:off x="914400" y="23505814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0" name="Text 75"/>
          <p:cNvSpPr/>
          <p:nvPr/>
        </p:nvSpPr>
        <p:spPr>
          <a:xfrm>
            <a:off x="876300" y="23505814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25" dirty="0"/>
          </a:p>
        </p:txBody>
      </p:sp>
      <p:sp>
        <p:nvSpPr>
          <p:cNvPr id="81" name="Text 76"/>
          <p:cNvSpPr/>
          <p:nvPr/>
        </p:nvSpPr>
        <p:spPr>
          <a:xfrm>
            <a:off x="1676400" y="23543914"/>
            <a:ext cx="423144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Niyet Kategorileri</a:t>
            </a:r>
            <a:endParaRPr lang="en-US" sz="3750" dirty="0"/>
          </a:p>
        </p:txBody>
      </p:sp>
      <p:sp>
        <p:nvSpPr>
          <p:cNvPr id="82" name="Shape 77"/>
          <p:cNvSpPr/>
          <p:nvPr/>
        </p:nvSpPr>
        <p:spPr>
          <a:xfrm>
            <a:off x="5975097" y="23772514"/>
            <a:ext cx="2425953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3" name="Text 78"/>
          <p:cNvSpPr/>
          <p:nvPr/>
        </p:nvSpPr>
        <p:spPr>
          <a:xfrm>
            <a:off x="1247775" y="24267813"/>
            <a:ext cx="7367873" cy="74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DB_QUERY: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Yapılandırılmış veritabanı sorguları — not, ders programı ve akademisyen bilgisi </a:t>
            </a: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yanıtlanır.</a:t>
            </a:r>
            <a:endParaRPr lang="en-US" sz="1950" dirty="0"/>
          </a:p>
        </p:txBody>
      </p:sp>
      <p:sp>
        <p:nvSpPr>
          <p:cNvPr id="84" name="Text 79"/>
          <p:cNvSpPr/>
          <p:nvPr/>
        </p:nvSpPr>
        <p:spPr>
          <a:xfrm>
            <a:off x="1247775" y="25112292"/>
            <a:ext cx="7367873" cy="735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PDF/Excel belgelerinden eşik kontrollü RAG ile bağlama duyarlı bilgi çekimi.</a:t>
            </a:r>
            <a:endParaRPr lang="en-US" sz="1950" dirty="0"/>
          </a:p>
        </p:txBody>
      </p:sp>
      <p:sp>
        <p:nvSpPr>
          <p:cNvPr id="85" name="Text 80"/>
          <p:cNvSpPr/>
          <p:nvPr/>
        </p:nvSpPr>
        <p:spPr>
          <a:xfrm>
            <a:off x="1247775" y="25942914"/>
            <a:ext cx="7367873" cy="39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bilgi gerektiren sorgular için canlı web araması.</a:t>
            </a:r>
            <a:endParaRPr lang="en-US" sz="1950" dirty="0"/>
          </a:p>
        </p:txBody>
      </p:sp>
      <p:sp>
        <p:nvSpPr>
          <p:cNvPr id="86" name="Text 81"/>
          <p:cNvSpPr/>
          <p:nvPr/>
        </p:nvSpPr>
        <p:spPr>
          <a:xfrm>
            <a:off x="1247775" y="26431829"/>
            <a:ext cx="7367873" cy="735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Sistemin kendisine dair sorular — aktif model, oturum, token ve maliyet bilgisi.</a:t>
            </a:r>
            <a:endParaRPr lang="en-US" sz="1950" dirty="0"/>
          </a:p>
        </p:txBody>
      </p:sp>
      <p:sp>
        <p:nvSpPr>
          <p:cNvPr id="87" name="Text 82"/>
          <p:cNvSpPr/>
          <p:nvPr/>
        </p:nvSpPr>
        <p:spPr>
          <a:xfrm>
            <a:off x="1247775" y="27262453"/>
            <a:ext cx="7367873" cy="39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Selamlaşma, genel sohbet ve kapsam dışı serbest sorular.</a:t>
            </a:r>
            <a:endParaRPr lang="en-US" sz="1950" dirty="0"/>
          </a:p>
        </p:txBody>
      </p:sp>
      <p:sp>
        <p:nvSpPr>
          <p:cNvPr id="88" name="Shape 83"/>
          <p:cNvSpPr/>
          <p:nvPr/>
        </p:nvSpPr>
        <p:spPr>
          <a:xfrm>
            <a:off x="8851323" y="8921895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9" name="Text 84"/>
          <p:cNvSpPr/>
          <p:nvPr/>
        </p:nvSpPr>
        <p:spPr>
          <a:xfrm>
            <a:off x="8813223" y="892189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25" dirty="0"/>
          </a:p>
        </p:txBody>
      </p:sp>
      <p:sp>
        <p:nvSpPr>
          <p:cNvPr id="90" name="Text 85"/>
          <p:cNvSpPr/>
          <p:nvPr/>
        </p:nvSpPr>
        <p:spPr>
          <a:xfrm>
            <a:off x="9613323" y="8959995"/>
            <a:ext cx="18345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Yöntem</a:t>
            </a:r>
            <a:endParaRPr lang="en-US" sz="3750" dirty="0"/>
          </a:p>
        </p:txBody>
      </p:sp>
      <p:sp>
        <p:nvSpPr>
          <p:cNvPr id="91" name="Shape 86"/>
          <p:cNvSpPr/>
          <p:nvPr/>
        </p:nvSpPr>
        <p:spPr>
          <a:xfrm>
            <a:off x="11562160" y="9188595"/>
            <a:ext cx="4775813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2" name="Text 87"/>
          <p:cNvSpPr/>
          <p:nvPr/>
        </p:nvSpPr>
        <p:spPr>
          <a:xfrm>
            <a:off x="9184698" y="9683895"/>
            <a:ext cx="7367873" cy="735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RAG Text-to-SQL: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</a:t>
            </a:r>
            <a:r>
              <a:rPr lang="en-US" sz="1875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multilingual-e5-small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en benzer 3 soru–SQL çifti dinamik seçilir.</a:t>
            </a:r>
            <a:endParaRPr lang="en-US" sz="1950" dirty="0"/>
          </a:p>
        </p:txBody>
      </p:sp>
      <p:sp>
        <p:nvSpPr>
          <p:cNvPr id="93" name="Text 88"/>
          <p:cNvSpPr/>
          <p:nvPr/>
        </p:nvSpPr>
        <p:spPr>
          <a:xfrm>
            <a:off x="9184698" y="10514518"/>
            <a:ext cx="7367873" cy="735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Hatalı SQL ve hata mesajı LLM'e geri verilerek tek adımda düzeltilir.</a:t>
            </a:r>
            <a:endParaRPr lang="en-US" sz="1950" dirty="0"/>
          </a:p>
        </p:txBody>
      </p:sp>
      <p:sp>
        <p:nvSpPr>
          <p:cNvPr id="94" name="Text 89"/>
          <p:cNvSpPr/>
          <p:nvPr/>
        </p:nvSpPr>
        <p:spPr>
          <a:xfrm>
            <a:off x="9184698" y="11345141"/>
            <a:ext cx="7367873" cy="735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kontrollü belge RAG: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 eşiği </a:t>
            </a:r>
            <a:r>
              <a:rPr lang="en-US" sz="1875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τ=0.45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altında kalan sorgulara açıkça "kapsam dışı" yanıtı.</a:t>
            </a:r>
            <a:endParaRPr lang="en-US" sz="1950" dirty="0"/>
          </a:p>
        </p:txBody>
      </p:sp>
      <p:sp>
        <p:nvSpPr>
          <p:cNvPr id="95" name="Text 90"/>
          <p:cNvSpPr/>
          <p:nvPr/>
        </p:nvSpPr>
        <p:spPr>
          <a:xfrm>
            <a:off x="9184698" y="12175765"/>
            <a:ext cx="7367873" cy="735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niyet sınıflandırma: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 ön filtresi + LLM, maliyeti ve gecikmeyi azaltır.</a:t>
            </a:r>
            <a:endParaRPr lang="en-US" sz="1950" dirty="0"/>
          </a:p>
        </p:txBody>
      </p:sp>
      <p:sp>
        <p:nvSpPr>
          <p:cNvPr id="96" name="Shape 91"/>
          <p:cNvSpPr/>
          <p:nvPr/>
        </p:nvSpPr>
        <p:spPr>
          <a:xfrm>
            <a:off x="8858250" y="14578786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7" name="Text 92"/>
          <p:cNvSpPr/>
          <p:nvPr/>
        </p:nvSpPr>
        <p:spPr>
          <a:xfrm>
            <a:off x="8820150" y="145787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25" dirty="0"/>
          </a:p>
        </p:txBody>
      </p:sp>
      <p:sp>
        <p:nvSpPr>
          <p:cNvPr id="98" name="Text 93"/>
          <p:cNvSpPr/>
          <p:nvPr/>
        </p:nvSpPr>
        <p:spPr>
          <a:xfrm>
            <a:off x="9620250" y="14616886"/>
            <a:ext cx="372763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Sistem Arayüzü</a:t>
            </a:r>
            <a:endParaRPr lang="en-US" sz="3750" dirty="0"/>
          </a:p>
        </p:txBody>
      </p:sp>
      <p:sp>
        <p:nvSpPr>
          <p:cNvPr id="99" name="Shape 94"/>
          <p:cNvSpPr/>
          <p:nvPr/>
        </p:nvSpPr>
        <p:spPr>
          <a:xfrm>
            <a:off x="13429817" y="14845486"/>
            <a:ext cx="2915083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2" name="Text 96"/>
          <p:cNvSpPr/>
          <p:nvPr/>
        </p:nvSpPr>
        <p:spPr>
          <a:xfrm>
            <a:off x="8878274" y="22292304"/>
            <a:ext cx="7711250" cy="69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Şekil 1. </a:t>
            </a:r>
            <a:r>
              <a:rPr lang="en-US" sz="1800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tabanlı üç panelli web </a:t>
            </a:r>
            <a:r>
              <a:rPr lang="en-US" sz="1800" dirty="0" err="1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arayüzü</a:t>
            </a:r>
            <a:r>
              <a:rPr lang="tr-TR" sz="1800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</a:t>
            </a:r>
            <a:r>
              <a:rPr lang="en-US" sz="1800" dirty="0" err="1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r>
              <a:rPr lang="en-US" sz="1800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 seçimi &amp; oturum istatistikleri, orta: çoklu oturum sohbet, sağ: belge yükleme &amp; web tarayıcı.</a:t>
            </a:r>
            <a:endParaRPr lang="en-US" sz="1800" dirty="0"/>
          </a:p>
        </p:txBody>
      </p:sp>
      <p:sp>
        <p:nvSpPr>
          <p:cNvPr id="103" name="Shape 97"/>
          <p:cNvSpPr/>
          <p:nvPr/>
        </p:nvSpPr>
        <p:spPr>
          <a:xfrm>
            <a:off x="8858250" y="23505814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4" name="Text 98"/>
          <p:cNvSpPr/>
          <p:nvPr/>
        </p:nvSpPr>
        <p:spPr>
          <a:xfrm>
            <a:off x="8820150" y="23505814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25" dirty="0"/>
          </a:p>
        </p:txBody>
      </p:sp>
      <p:sp>
        <p:nvSpPr>
          <p:cNvPr id="105" name="Text 99"/>
          <p:cNvSpPr/>
          <p:nvPr/>
        </p:nvSpPr>
        <p:spPr>
          <a:xfrm>
            <a:off x="9620250" y="23543914"/>
            <a:ext cx="42255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Tartışma &amp; Sonuç</a:t>
            </a:r>
            <a:endParaRPr lang="en-US" sz="3750" dirty="0"/>
          </a:p>
        </p:txBody>
      </p:sp>
      <p:sp>
        <p:nvSpPr>
          <p:cNvPr id="106" name="Shape 100"/>
          <p:cNvSpPr/>
          <p:nvPr/>
        </p:nvSpPr>
        <p:spPr>
          <a:xfrm>
            <a:off x="13913211" y="23772514"/>
            <a:ext cx="2431689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7" name="Text 101"/>
          <p:cNvSpPr/>
          <p:nvPr/>
        </p:nvSpPr>
        <p:spPr>
          <a:xfrm>
            <a:off x="8858250" y="24267813"/>
            <a:ext cx="7711250" cy="115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dinamik örnek seçimi SQL doğruluğunu </a:t>
            </a:r>
            <a:r>
              <a:rPr lang="en-US" sz="2025" b="1" dirty="0">
                <a:solidFill>
                  <a:srgbClr val="9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puan </a:t>
            </a: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artırmış; self-healing sistemi ürün kalitesine yaklaştıran kritik bileşen olmuştur. Sıkı eşik kontrolü, belirsiz eşleşmelerde uydurma riskini ortadan kaldırır.</a:t>
            </a:r>
            <a:endParaRPr lang="en-US" sz="2025" dirty="0"/>
          </a:p>
        </p:txBody>
      </p:sp>
      <p:sp>
        <p:nvSpPr>
          <p:cNvPr id="108" name="Text 102"/>
          <p:cNvSpPr/>
          <p:nvPr/>
        </p:nvSpPr>
        <p:spPr>
          <a:xfrm>
            <a:off x="9191625" y="25576094"/>
            <a:ext cx="7367873" cy="39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Gelecek: </a:t>
            </a: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veritabanı (PostgreSQL) ile oturum saklama</a:t>
            </a:r>
            <a:endParaRPr lang="en-US" sz="1950" dirty="0"/>
          </a:p>
        </p:txBody>
      </p:sp>
      <p:sp>
        <p:nvSpPr>
          <p:cNvPr id="109" name="Text 103"/>
          <p:cNvSpPr/>
          <p:nvPr/>
        </p:nvSpPr>
        <p:spPr>
          <a:xfrm>
            <a:off x="9191625" y="26065008"/>
            <a:ext cx="7367873" cy="379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Playwright/Selenium ile JS tabanlı site desteği</a:t>
            </a:r>
            <a:endParaRPr lang="en-US" sz="1950" dirty="0"/>
          </a:p>
        </p:txBody>
      </p:sp>
      <p:sp>
        <p:nvSpPr>
          <p:cNvPr id="110" name="Text 104"/>
          <p:cNvSpPr/>
          <p:nvPr/>
        </p:nvSpPr>
        <p:spPr>
          <a:xfrm>
            <a:off x="9191625" y="26540068"/>
            <a:ext cx="7367873" cy="379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ile çok kullanıcılı oturum yönetimi</a:t>
            </a:r>
            <a:endParaRPr lang="en-US" sz="1950" dirty="0"/>
          </a:p>
        </p:txBody>
      </p:sp>
      <p:sp>
        <p:nvSpPr>
          <p:cNvPr id="111" name="Text 105"/>
          <p:cNvSpPr/>
          <p:nvPr/>
        </p:nvSpPr>
        <p:spPr>
          <a:xfrm>
            <a:off x="9191625" y="27015127"/>
            <a:ext cx="7367873" cy="379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 ile API bağımlılığını azaltma</a:t>
            </a:r>
            <a:endParaRPr lang="en-US" sz="1950" dirty="0"/>
          </a:p>
        </p:txBody>
      </p:sp>
      <p:sp>
        <p:nvSpPr>
          <p:cNvPr id="112" name="Shape 106"/>
          <p:cNvSpPr/>
          <p:nvPr/>
        </p:nvSpPr>
        <p:spPr>
          <a:xfrm>
            <a:off x="16795174" y="8921895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3" name="Text 107"/>
          <p:cNvSpPr/>
          <p:nvPr/>
        </p:nvSpPr>
        <p:spPr>
          <a:xfrm>
            <a:off x="16757074" y="892189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25" dirty="0"/>
          </a:p>
        </p:txBody>
      </p:sp>
      <p:sp>
        <p:nvSpPr>
          <p:cNvPr id="114" name="Text 108"/>
          <p:cNvSpPr/>
          <p:nvPr/>
        </p:nvSpPr>
        <p:spPr>
          <a:xfrm>
            <a:off x="17557174" y="8959995"/>
            <a:ext cx="248321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Belge RAG</a:t>
            </a:r>
            <a:endParaRPr lang="en-US" sz="3750" dirty="0"/>
          </a:p>
        </p:txBody>
      </p:sp>
      <p:sp>
        <p:nvSpPr>
          <p:cNvPr id="115" name="Shape 109"/>
          <p:cNvSpPr/>
          <p:nvPr/>
        </p:nvSpPr>
        <p:spPr>
          <a:xfrm>
            <a:off x="20154685" y="9188595"/>
            <a:ext cx="4127139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6" name="Shape 110"/>
          <p:cNvSpPr/>
          <p:nvPr/>
        </p:nvSpPr>
        <p:spPr>
          <a:xfrm>
            <a:off x="16795174" y="9683895"/>
            <a:ext cx="7486650" cy="2582141"/>
          </a:xfrm>
          <a:prstGeom prst="roundRect">
            <a:avLst>
              <a:gd name="adj" fmla="val 5164"/>
            </a:avLst>
          </a:prstGeom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7" name="Shape 111"/>
          <p:cNvSpPr/>
          <p:nvPr/>
        </p:nvSpPr>
        <p:spPr>
          <a:xfrm>
            <a:off x="16798637" y="9687358"/>
            <a:ext cx="4312444" cy="647700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8" name="Text 112"/>
          <p:cNvSpPr/>
          <p:nvPr/>
        </p:nvSpPr>
        <p:spPr>
          <a:xfrm>
            <a:off x="16989137" y="9858808"/>
            <a:ext cx="40608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Kategorisi</a:t>
            </a:r>
            <a:endParaRPr lang="en-US" sz="1800" dirty="0"/>
          </a:p>
        </p:txBody>
      </p:sp>
      <p:sp>
        <p:nvSpPr>
          <p:cNvPr id="119" name="Shape 113"/>
          <p:cNvSpPr/>
          <p:nvPr/>
        </p:nvSpPr>
        <p:spPr>
          <a:xfrm>
            <a:off x="21111081" y="9687358"/>
            <a:ext cx="1651613" cy="647700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0" name="Text 114"/>
          <p:cNvSpPr/>
          <p:nvPr/>
        </p:nvSpPr>
        <p:spPr>
          <a:xfrm>
            <a:off x="21225381" y="9858808"/>
            <a:ext cx="1346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</a:t>
            </a:r>
            <a:endParaRPr lang="en-US" sz="1800" dirty="0"/>
          </a:p>
        </p:txBody>
      </p:sp>
      <p:sp>
        <p:nvSpPr>
          <p:cNvPr id="121" name="Shape 115"/>
          <p:cNvSpPr/>
          <p:nvPr/>
        </p:nvSpPr>
        <p:spPr>
          <a:xfrm>
            <a:off x="22762694" y="9687358"/>
            <a:ext cx="1515666" cy="647700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2" name="Text 116"/>
          <p:cNvSpPr/>
          <p:nvPr/>
        </p:nvSpPr>
        <p:spPr>
          <a:xfrm>
            <a:off x="22876994" y="9858808"/>
            <a:ext cx="12108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</a:t>
            </a:r>
            <a:endParaRPr lang="en-US" sz="1800" dirty="0"/>
          </a:p>
        </p:txBody>
      </p:sp>
      <p:sp>
        <p:nvSpPr>
          <p:cNvPr id="123" name="Shape 117"/>
          <p:cNvSpPr/>
          <p:nvPr/>
        </p:nvSpPr>
        <p:spPr>
          <a:xfrm>
            <a:off x="16798637" y="10335058"/>
            <a:ext cx="4312444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4" name="Text 118"/>
          <p:cNvSpPr/>
          <p:nvPr/>
        </p:nvSpPr>
        <p:spPr>
          <a:xfrm>
            <a:off x="16989137" y="10503911"/>
            <a:ext cx="40608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içi sorular (10)</a:t>
            </a:r>
            <a:endParaRPr lang="en-US" sz="1950" dirty="0"/>
          </a:p>
        </p:txBody>
      </p:sp>
      <p:sp>
        <p:nvSpPr>
          <p:cNvPr id="125" name="Shape 119"/>
          <p:cNvSpPr/>
          <p:nvPr/>
        </p:nvSpPr>
        <p:spPr>
          <a:xfrm>
            <a:off x="21111081" y="10335058"/>
            <a:ext cx="1651613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6" name="Text 120"/>
          <p:cNvSpPr/>
          <p:nvPr/>
        </p:nvSpPr>
        <p:spPr>
          <a:xfrm>
            <a:off x="21225381" y="10503911"/>
            <a:ext cx="1346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1950" dirty="0"/>
          </a:p>
        </p:txBody>
      </p:sp>
      <p:sp>
        <p:nvSpPr>
          <p:cNvPr id="127" name="Shape 121"/>
          <p:cNvSpPr/>
          <p:nvPr/>
        </p:nvSpPr>
        <p:spPr>
          <a:xfrm>
            <a:off x="22762694" y="10335058"/>
            <a:ext cx="1515666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8" name="Text 122"/>
          <p:cNvSpPr/>
          <p:nvPr/>
        </p:nvSpPr>
        <p:spPr>
          <a:xfrm>
            <a:off x="22876994" y="10503911"/>
            <a:ext cx="12108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129" name="Shape 123"/>
          <p:cNvSpPr/>
          <p:nvPr/>
        </p:nvSpPr>
        <p:spPr>
          <a:xfrm>
            <a:off x="16798637" y="10970636"/>
            <a:ext cx="7479723" cy="635577"/>
          </a:xfrm>
          <a:prstGeom prst="rect">
            <a:avLst/>
          </a:prstGeom>
          <a:solidFill>
            <a:srgbClr val="F8F2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0" name="Shape 124"/>
          <p:cNvSpPr/>
          <p:nvPr/>
        </p:nvSpPr>
        <p:spPr>
          <a:xfrm>
            <a:off x="16798637" y="10970636"/>
            <a:ext cx="4312444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1" name="Text 125"/>
          <p:cNvSpPr/>
          <p:nvPr/>
        </p:nvSpPr>
        <p:spPr>
          <a:xfrm>
            <a:off x="16989137" y="11139488"/>
            <a:ext cx="40608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dışı sorular (10)</a:t>
            </a:r>
            <a:endParaRPr lang="en-US" sz="1950" dirty="0"/>
          </a:p>
        </p:txBody>
      </p:sp>
      <p:sp>
        <p:nvSpPr>
          <p:cNvPr id="132" name="Shape 126"/>
          <p:cNvSpPr/>
          <p:nvPr/>
        </p:nvSpPr>
        <p:spPr>
          <a:xfrm>
            <a:off x="21111081" y="10970636"/>
            <a:ext cx="1651613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3" name="Text 127"/>
          <p:cNvSpPr/>
          <p:nvPr/>
        </p:nvSpPr>
        <p:spPr>
          <a:xfrm>
            <a:off x="21225381" y="11139488"/>
            <a:ext cx="1346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134" name="Shape 128"/>
          <p:cNvSpPr/>
          <p:nvPr/>
        </p:nvSpPr>
        <p:spPr>
          <a:xfrm>
            <a:off x="22762694" y="10970636"/>
            <a:ext cx="1515666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5" name="Text 129"/>
          <p:cNvSpPr/>
          <p:nvPr/>
        </p:nvSpPr>
        <p:spPr>
          <a:xfrm>
            <a:off x="22876994" y="11139488"/>
            <a:ext cx="12108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950" dirty="0"/>
          </a:p>
        </p:txBody>
      </p:sp>
      <p:sp>
        <p:nvSpPr>
          <p:cNvPr id="136" name="Shape 130"/>
          <p:cNvSpPr/>
          <p:nvPr/>
        </p:nvSpPr>
        <p:spPr>
          <a:xfrm>
            <a:off x="16798637" y="11606213"/>
            <a:ext cx="7479723" cy="656359"/>
          </a:xfrm>
          <a:prstGeom prst="rect">
            <a:avLst/>
          </a:prstGeom>
          <a:solidFill>
            <a:srgbClr val="F2E7D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7" name="Shape 131"/>
          <p:cNvSpPr/>
          <p:nvPr/>
        </p:nvSpPr>
        <p:spPr>
          <a:xfrm>
            <a:off x="16798637" y="11606213"/>
            <a:ext cx="4312444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8" name="Text 132"/>
          <p:cNvSpPr/>
          <p:nvPr/>
        </p:nvSpPr>
        <p:spPr>
          <a:xfrm>
            <a:off x="16989137" y="11775065"/>
            <a:ext cx="4060817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ortalama</a:t>
            </a:r>
            <a:endParaRPr lang="en-US" sz="1950" dirty="0"/>
          </a:p>
        </p:txBody>
      </p:sp>
      <p:sp>
        <p:nvSpPr>
          <p:cNvPr id="139" name="Shape 133"/>
          <p:cNvSpPr/>
          <p:nvPr/>
        </p:nvSpPr>
        <p:spPr>
          <a:xfrm>
            <a:off x="21111081" y="11606213"/>
            <a:ext cx="1651613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0" name="Text 134"/>
          <p:cNvSpPr/>
          <p:nvPr/>
        </p:nvSpPr>
        <p:spPr>
          <a:xfrm>
            <a:off x="21225381" y="11775065"/>
            <a:ext cx="1346813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1950" dirty="0"/>
          </a:p>
        </p:txBody>
      </p:sp>
      <p:sp>
        <p:nvSpPr>
          <p:cNvPr id="141" name="Shape 135"/>
          <p:cNvSpPr/>
          <p:nvPr/>
        </p:nvSpPr>
        <p:spPr>
          <a:xfrm>
            <a:off x="22762694" y="11606213"/>
            <a:ext cx="1515666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2" name="Text 136"/>
          <p:cNvSpPr/>
          <p:nvPr/>
        </p:nvSpPr>
        <p:spPr>
          <a:xfrm>
            <a:off x="22876994" y="11775065"/>
            <a:ext cx="1210866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950" dirty="0"/>
          </a:p>
        </p:txBody>
      </p:sp>
      <p:sp>
        <p:nvSpPr>
          <p:cNvPr id="143" name="Text 137"/>
          <p:cNvSpPr/>
          <p:nvPr/>
        </p:nvSpPr>
        <p:spPr>
          <a:xfrm>
            <a:off x="16795174" y="12418436"/>
            <a:ext cx="7711250" cy="663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b="1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Tablo 2. </a:t>
            </a:r>
            <a:r>
              <a:rPr lang="en-US" sz="172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kontrollü RAG, hallüsinasyonu önlemek için kapsam dışı sorguları tutarlı biçimde reddeder.</a:t>
            </a:r>
            <a:endParaRPr lang="en-US" sz="1725" dirty="0"/>
          </a:p>
        </p:txBody>
      </p:sp>
      <p:sp>
        <p:nvSpPr>
          <p:cNvPr id="144" name="Shape 138"/>
          <p:cNvSpPr/>
          <p:nvPr/>
        </p:nvSpPr>
        <p:spPr>
          <a:xfrm>
            <a:off x="16802101" y="14578786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5" name="Text 139"/>
          <p:cNvSpPr/>
          <p:nvPr/>
        </p:nvSpPr>
        <p:spPr>
          <a:xfrm>
            <a:off x="16764001" y="145787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025" dirty="0"/>
          </a:p>
        </p:txBody>
      </p:sp>
      <p:sp>
        <p:nvSpPr>
          <p:cNvPr id="146" name="Text 140"/>
          <p:cNvSpPr/>
          <p:nvPr/>
        </p:nvSpPr>
        <p:spPr>
          <a:xfrm>
            <a:off x="17564101" y="14616886"/>
            <a:ext cx="441929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Deneysel Sonuçlar</a:t>
            </a:r>
            <a:endParaRPr lang="en-US" sz="3750" dirty="0"/>
          </a:p>
        </p:txBody>
      </p:sp>
      <p:sp>
        <p:nvSpPr>
          <p:cNvPr id="147" name="Shape 141"/>
          <p:cNvSpPr/>
          <p:nvPr/>
        </p:nvSpPr>
        <p:spPr>
          <a:xfrm>
            <a:off x="22045181" y="14845486"/>
            <a:ext cx="2243570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8" name="Shape 142"/>
          <p:cNvSpPr/>
          <p:nvPr/>
        </p:nvSpPr>
        <p:spPr>
          <a:xfrm>
            <a:off x="16802101" y="15340786"/>
            <a:ext cx="3629025" cy="2103943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9" name="Text 143"/>
          <p:cNvSpPr/>
          <p:nvPr/>
        </p:nvSpPr>
        <p:spPr>
          <a:xfrm>
            <a:off x="17009879" y="15633463"/>
            <a:ext cx="321346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r>
              <a:rPr lang="en-US" sz="3450" b="1" kern="0" spc="-126" dirty="0">
                <a:solidFill>
                  <a:srgbClr val="9E2A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6300" dirty="0"/>
          </a:p>
        </p:txBody>
      </p:sp>
      <p:sp>
        <p:nvSpPr>
          <p:cNvPr id="150" name="Text 144"/>
          <p:cNvSpPr/>
          <p:nvPr/>
        </p:nvSpPr>
        <p:spPr>
          <a:xfrm>
            <a:off x="17009879" y="16566913"/>
            <a:ext cx="3213467" cy="623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doğruluğu (few-shot RAG)</a:t>
            </a:r>
            <a:endParaRPr lang="en-US" sz="1800" dirty="0"/>
          </a:p>
        </p:txBody>
      </p:sp>
      <p:sp>
        <p:nvSpPr>
          <p:cNvPr id="151" name="Shape 145"/>
          <p:cNvSpPr/>
          <p:nvPr/>
        </p:nvSpPr>
        <p:spPr>
          <a:xfrm>
            <a:off x="20659726" y="15340786"/>
            <a:ext cx="3629025" cy="2103943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2" name="Text 146"/>
          <p:cNvSpPr/>
          <p:nvPr/>
        </p:nvSpPr>
        <p:spPr>
          <a:xfrm>
            <a:off x="20867505" y="15633463"/>
            <a:ext cx="321346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</a:t>
            </a:r>
            <a:r>
              <a:rPr lang="en-US" sz="3450" b="1" kern="0" spc="-126" dirty="0">
                <a:solidFill>
                  <a:srgbClr val="9E2A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6300" dirty="0"/>
          </a:p>
        </p:txBody>
      </p:sp>
      <p:sp>
        <p:nvSpPr>
          <p:cNvPr id="153" name="Text 147"/>
          <p:cNvSpPr/>
          <p:nvPr/>
        </p:nvSpPr>
        <p:spPr>
          <a:xfrm>
            <a:off x="20867505" y="16566913"/>
            <a:ext cx="3213467" cy="623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 sınıflandırma doğruluğu</a:t>
            </a:r>
            <a:endParaRPr lang="en-US" sz="1800" dirty="0"/>
          </a:p>
        </p:txBody>
      </p:sp>
      <p:sp>
        <p:nvSpPr>
          <p:cNvPr id="154" name="Shape 148"/>
          <p:cNvSpPr/>
          <p:nvPr/>
        </p:nvSpPr>
        <p:spPr>
          <a:xfrm>
            <a:off x="16802101" y="17673329"/>
            <a:ext cx="3629025" cy="2103943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5" name="Text 149"/>
          <p:cNvSpPr/>
          <p:nvPr/>
        </p:nvSpPr>
        <p:spPr>
          <a:xfrm>
            <a:off x="17009879" y="17966006"/>
            <a:ext cx="321346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1C8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r>
              <a:rPr lang="en-US" sz="3450" b="1" kern="0" spc="-126" dirty="0">
                <a:solidFill>
                  <a:srgbClr val="1C8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6300" dirty="0"/>
          </a:p>
        </p:txBody>
      </p:sp>
      <p:sp>
        <p:nvSpPr>
          <p:cNvPr id="156" name="Text 150"/>
          <p:cNvSpPr/>
          <p:nvPr/>
        </p:nvSpPr>
        <p:spPr>
          <a:xfrm>
            <a:off x="17009879" y="18899456"/>
            <a:ext cx="3213467" cy="330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dışı ret oranı</a:t>
            </a:r>
            <a:endParaRPr lang="en-US" sz="1800" dirty="0"/>
          </a:p>
        </p:txBody>
      </p:sp>
      <p:sp>
        <p:nvSpPr>
          <p:cNvPr id="157" name="Shape 151"/>
          <p:cNvSpPr/>
          <p:nvPr/>
        </p:nvSpPr>
        <p:spPr>
          <a:xfrm>
            <a:off x="20659726" y="17673329"/>
            <a:ext cx="3629025" cy="2103943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8" name="Text 152"/>
          <p:cNvSpPr/>
          <p:nvPr/>
        </p:nvSpPr>
        <p:spPr>
          <a:xfrm>
            <a:off x="20867505" y="17966006"/>
            <a:ext cx="321346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74</a:t>
            </a:r>
            <a:r>
              <a:rPr lang="en-US" sz="3450" b="1" kern="0" spc="-126" dirty="0">
                <a:solidFill>
                  <a:srgbClr val="9E2A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6300" dirty="0"/>
          </a:p>
        </p:txBody>
      </p:sp>
      <p:sp>
        <p:nvSpPr>
          <p:cNvPr id="159" name="Text 153"/>
          <p:cNvSpPr/>
          <p:nvPr/>
        </p:nvSpPr>
        <p:spPr>
          <a:xfrm>
            <a:off x="20867505" y="18899456"/>
            <a:ext cx="3213467" cy="623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 ön filtresi isabeti</a:t>
            </a:r>
            <a:endParaRPr lang="en-US" sz="1800" dirty="0"/>
          </a:p>
        </p:txBody>
      </p:sp>
      <p:sp>
        <p:nvSpPr>
          <p:cNvPr id="160" name="Shape 154"/>
          <p:cNvSpPr/>
          <p:nvPr/>
        </p:nvSpPr>
        <p:spPr>
          <a:xfrm>
            <a:off x="16802101" y="20063021"/>
            <a:ext cx="7486650" cy="2582141"/>
          </a:xfrm>
          <a:prstGeom prst="roundRect">
            <a:avLst>
              <a:gd name="adj" fmla="val 5164"/>
            </a:avLst>
          </a:prstGeom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1" name="Shape 155"/>
          <p:cNvSpPr/>
          <p:nvPr/>
        </p:nvSpPr>
        <p:spPr>
          <a:xfrm>
            <a:off x="16805564" y="20066485"/>
            <a:ext cx="3041289" cy="647700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2" name="Text 156"/>
          <p:cNvSpPr/>
          <p:nvPr/>
        </p:nvSpPr>
        <p:spPr>
          <a:xfrm>
            <a:off x="16996064" y="20237935"/>
            <a:ext cx="27515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800" dirty="0"/>
          </a:p>
        </p:txBody>
      </p:sp>
      <p:sp>
        <p:nvSpPr>
          <p:cNvPr id="163" name="Shape 157"/>
          <p:cNvSpPr/>
          <p:nvPr/>
        </p:nvSpPr>
        <p:spPr>
          <a:xfrm>
            <a:off x="19846853" y="20066485"/>
            <a:ext cx="1591325" cy="647700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4" name="Text 158"/>
          <p:cNvSpPr/>
          <p:nvPr/>
        </p:nvSpPr>
        <p:spPr>
          <a:xfrm>
            <a:off x="19961153" y="20237935"/>
            <a:ext cx="12865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Doğr.</a:t>
            </a:r>
            <a:endParaRPr lang="en-US" sz="1800" dirty="0"/>
          </a:p>
        </p:txBody>
      </p:sp>
      <p:sp>
        <p:nvSpPr>
          <p:cNvPr id="165" name="Shape 159"/>
          <p:cNvSpPr/>
          <p:nvPr/>
        </p:nvSpPr>
        <p:spPr>
          <a:xfrm>
            <a:off x="21438178" y="20066485"/>
            <a:ext cx="1386753" cy="647700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6" name="Text 160"/>
          <p:cNvSpPr/>
          <p:nvPr/>
        </p:nvSpPr>
        <p:spPr>
          <a:xfrm>
            <a:off x="21552478" y="20237935"/>
            <a:ext cx="10819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</a:t>
            </a:r>
            <a:endParaRPr lang="en-US" sz="1800" dirty="0"/>
          </a:p>
        </p:txBody>
      </p:sp>
      <p:sp>
        <p:nvSpPr>
          <p:cNvPr id="167" name="Shape 161"/>
          <p:cNvSpPr/>
          <p:nvPr/>
        </p:nvSpPr>
        <p:spPr>
          <a:xfrm>
            <a:off x="22824931" y="20066485"/>
            <a:ext cx="1460356" cy="647700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8" name="Text 162"/>
          <p:cNvSpPr/>
          <p:nvPr/>
        </p:nvSpPr>
        <p:spPr>
          <a:xfrm>
            <a:off x="22939231" y="20237935"/>
            <a:ext cx="11555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Gec.</a:t>
            </a:r>
            <a:endParaRPr lang="en-US" sz="1800" dirty="0"/>
          </a:p>
        </p:txBody>
      </p:sp>
      <p:sp>
        <p:nvSpPr>
          <p:cNvPr id="169" name="Shape 163"/>
          <p:cNvSpPr/>
          <p:nvPr/>
        </p:nvSpPr>
        <p:spPr>
          <a:xfrm>
            <a:off x="16805564" y="20714185"/>
            <a:ext cx="3041289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0" name="Text 164"/>
          <p:cNvSpPr/>
          <p:nvPr/>
        </p:nvSpPr>
        <p:spPr>
          <a:xfrm>
            <a:off x="16996064" y="20883037"/>
            <a:ext cx="27515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950" dirty="0"/>
          </a:p>
        </p:txBody>
      </p:sp>
      <p:sp>
        <p:nvSpPr>
          <p:cNvPr id="171" name="Shape 165"/>
          <p:cNvSpPr/>
          <p:nvPr/>
        </p:nvSpPr>
        <p:spPr>
          <a:xfrm>
            <a:off x="19846853" y="20714185"/>
            <a:ext cx="1591325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2" name="Text 166"/>
          <p:cNvSpPr/>
          <p:nvPr/>
        </p:nvSpPr>
        <p:spPr>
          <a:xfrm>
            <a:off x="19961153" y="20883037"/>
            <a:ext cx="12865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</a:t>
            </a:r>
            <a:endParaRPr lang="en-US" sz="1950" dirty="0"/>
          </a:p>
        </p:txBody>
      </p:sp>
      <p:sp>
        <p:nvSpPr>
          <p:cNvPr id="173" name="Shape 167"/>
          <p:cNvSpPr/>
          <p:nvPr/>
        </p:nvSpPr>
        <p:spPr>
          <a:xfrm>
            <a:off x="21438178" y="20714185"/>
            <a:ext cx="1386753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4" name="Text 168"/>
          <p:cNvSpPr/>
          <p:nvPr/>
        </p:nvSpPr>
        <p:spPr>
          <a:xfrm>
            <a:off x="21552478" y="20883037"/>
            <a:ext cx="10819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50" dirty="0"/>
          </a:p>
        </p:txBody>
      </p:sp>
      <p:sp>
        <p:nvSpPr>
          <p:cNvPr id="175" name="Shape 169"/>
          <p:cNvSpPr/>
          <p:nvPr/>
        </p:nvSpPr>
        <p:spPr>
          <a:xfrm>
            <a:off x="22824931" y="20714185"/>
            <a:ext cx="1460356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6" name="Text 170"/>
          <p:cNvSpPr/>
          <p:nvPr/>
        </p:nvSpPr>
        <p:spPr>
          <a:xfrm>
            <a:off x="22939231" y="20883037"/>
            <a:ext cx="11555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1.2s</a:t>
            </a:r>
            <a:endParaRPr lang="en-US" sz="1950" dirty="0"/>
          </a:p>
        </p:txBody>
      </p:sp>
      <p:sp>
        <p:nvSpPr>
          <p:cNvPr id="177" name="Shape 171"/>
          <p:cNvSpPr/>
          <p:nvPr/>
        </p:nvSpPr>
        <p:spPr>
          <a:xfrm>
            <a:off x="16805564" y="21349762"/>
            <a:ext cx="7479723" cy="635577"/>
          </a:xfrm>
          <a:prstGeom prst="rect">
            <a:avLst/>
          </a:prstGeom>
          <a:solidFill>
            <a:srgbClr val="F8F2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8" name="Shape 172"/>
          <p:cNvSpPr/>
          <p:nvPr/>
        </p:nvSpPr>
        <p:spPr>
          <a:xfrm>
            <a:off x="16805564" y="21349762"/>
            <a:ext cx="3041289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9" name="Text 173"/>
          <p:cNvSpPr/>
          <p:nvPr/>
        </p:nvSpPr>
        <p:spPr>
          <a:xfrm>
            <a:off x="16996064" y="21518615"/>
            <a:ext cx="27515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(k=3)</a:t>
            </a:r>
            <a:endParaRPr lang="en-US" sz="1950" dirty="0"/>
          </a:p>
        </p:txBody>
      </p:sp>
      <p:sp>
        <p:nvSpPr>
          <p:cNvPr id="180" name="Shape 174"/>
          <p:cNvSpPr/>
          <p:nvPr/>
        </p:nvSpPr>
        <p:spPr>
          <a:xfrm>
            <a:off x="19846853" y="21349762"/>
            <a:ext cx="1591325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1" name="Text 175"/>
          <p:cNvSpPr/>
          <p:nvPr/>
        </p:nvSpPr>
        <p:spPr>
          <a:xfrm>
            <a:off x="19961153" y="21518615"/>
            <a:ext cx="12865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83%</a:t>
            </a:r>
            <a:endParaRPr lang="en-US" sz="1950" dirty="0"/>
          </a:p>
        </p:txBody>
      </p:sp>
      <p:sp>
        <p:nvSpPr>
          <p:cNvPr id="182" name="Shape 176"/>
          <p:cNvSpPr/>
          <p:nvPr/>
        </p:nvSpPr>
        <p:spPr>
          <a:xfrm>
            <a:off x="21438178" y="21349762"/>
            <a:ext cx="1386753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3" name="Text 177"/>
          <p:cNvSpPr/>
          <p:nvPr/>
        </p:nvSpPr>
        <p:spPr>
          <a:xfrm>
            <a:off x="21552478" y="21518615"/>
            <a:ext cx="10819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950" dirty="0"/>
          </a:p>
        </p:txBody>
      </p:sp>
      <p:sp>
        <p:nvSpPr>
          <p:cNvPr id="184" name="Shape 178"/>
          <p:cNvSpPr/>
          <p:nvPr/>
        </p:nvSpPr>
        <p:spPr>
          <a:xfrm>
            <a:off x="22824931" y="21349762"/>
            <a:ext cx="1460356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5" name="Text 179"/>
          <p:cNvSpPr/>
          <p:nvPr/>
        </p:nvSpPr>
        <p:spPr>
          <a:xfrm>
            <a:off x="22939231" y="21518615"/>
            <a:ext cx="11555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2835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1.5s</a:t>
            </a:r>
            <a:endParaRPr lang="en-US" sz="1950" dirty="0"/>
          </a:p>
        </p:txBody>
      </p:sp>
      <p:sp>
        <p:nvSpPr>
          <p:cNvPr id="186" name="Shape 180"/>
          <p:cNvSpPr/>
          <p:nvPr/>
        </p:nvSpPr>
        <p:spPr>
          <a:xfrm>
            <a:off x="16805564" y="21985340"/>
            <a:ext cx="7479723" cy="656359"/>
          </a:xfrm>
          <a:prstGeom prst="rect">
            <a:avLst/>
          </a:prstGeom>
          <a:solidFill>
            <a:srgbClr val="F2E7D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7" name="Shape 181"/>
          <p:cNvSpPr/>
          <p:nvPr/>
        </p:nvSpPr>
        <p:spPr>
          <a:xfrm>
            <a:off x="16805564" y="21985340"/>
            <a:ext cx="3041289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8" name="Text 182"/>
          <p:cNvSpPr/>
          <p:nvPr/>
        </p:nvSpPr>
        <p:spPr>
          <a:xfrm>
            <a:off x="16996064" y="22154192"/>
            <a:ext cx="2751528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RAG</a:t>
            </a:r>
            <a:endParaRPr lang="en-US" sz="1950" dirty="0"/>
          </a:p>
        </p:txBody>
      </p:sp>
      <p:sp>
        <p:nvSpPr>
          <p:cNvPr id="189" name="Shape 183"/>
          <p:cNvSpPr/>
          <p:nvPr/>
        </p:nvSpPr>
        <p:spPr>
          <a:xfrm>
            <a:off x="19846853" y="21985340"/>
            <a:ext cx="1591325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0" name="Text 184"/>
          <p:cNvSpPr/>
          <p:nvPr/>
        </p:nvSpPr>
        <p:spPr>
          <a:xfrm>
            <a:off x="19961153" y="22154192"/>
            <a:ext cx="1286525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1950" dirty="0"/>
          </a:p>
        </p:txBody>
      </p:sp>
      <p:sp>
        <p:nvSpPr>
          <p:cNvPr id="191" name="Shape 185"/>
          <p:cNvSpPr/>
          <p:nvPr/>
        </p:nvSpPr>
        <p:spPr>
          <a:xfrm>
            <a:off x="21438178" y="21985340"/>
            <a:ext cx="1386753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2" name="Text 186"/>
          <p:cNvSpPr/>
          <p:nvPr/>
        </p:nvSpPr>
        <p:spPr>
          <a:xfrm>
            <a:off x="21552478" y="22154192"/>
            <a:ext cx="1081953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50" dirty="0"/>
          </a:p>
        </p:txBody>
      </p:sp>
      <p:sp>
        <p:nvSpPr>
          <p:cNvPr id="193" name="Shape 187"/>
          <p:cNvSpPr/>
          <p:nvPr/>
        </p:nvSpPr>
        <p:spPr>
          <a:xfrm>
            <a:off x="22824931" y="21985340"/>
            <a:ext cx="1460356" cy="9525"/>
          </a:xfrm>
          <a:prstGeom prst="rect">
            <a:avLst/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4" name="Text 188"/>
          <p:cNvSpPr/>
          <p:nvPr/>
        </p:nvSpPr>
        <p:spPr>
          <a:xfrm>
            <a:off x="22939231" y="22154192"/>
            <a:ext cx="1155556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1.8s</a:t>
            </a:r>
            <a:endParaRPr lang="en-US" sz="1950" dirty="0"/>
          </a:p>
        </p:txBody>
      </p:sp>
      <p:sp>
        <p:nvSpPr>
          <p:cNvPr id="195" name="Text 189"/>
          <p:cNvSpPr/>
          <p:nvPr/>
        </p:nvSpPr>
        <p:spPr>
          <a:xfrm>
            <a:off x="16802101" y="22797562"/>
            <a:ext cx="7711250" cy="361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b="1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Tablo 1. </a:t>
            </a:r>
            <a:r>
              <a:rPr lang="en-US" sz="172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Türkçe doğal dil sorusu üzerinde SQL yürütme doğruluğu.</a:t>
            </a:r>
            <a:endParaRPr lang="en-US" sz="1725" dirty="0"/>
          </a:p>
        </p:txBody>
      </p:sp>
      <p:sp>
        <p:nvSpPr>
          <p:cNvPr id="196" name="Shape 190"/>
          <p:cNvSpPr/>
          <p:nvPr/>
        </p:nvSpPr>
        <p:spPr>
          <a:xfrm>
            <a:off x="16802101" y="23505814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9E2A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7" name="Text 191"/>
          <p:cNvSpPr/>
          <p:nvPr/>
        </p:nvSpPr>
        <p:spPr>
          <a:xfrm>
            <a:off x="16764001" y="23505814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025" dirty="0"/>
          </a:p>
        </p:txBody>
      </p:sp>
      <p:sp>
        <p:nvSpPr>
          <p:cNvPr id="198" name="Text 192"/>
          <p:cNvSpPr/>
          <p:nvPr/>
        </p:nvSpPr>
        <p:spPr>
          <a:xfrm>
            <a:off x="17564101" y="23543914"/>
            <a:ext cx="468619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37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Niyet Sınıflandırma</a:t>
            </a:r>
            <a:endParaRPr lang="en-US" sz="3750" dirty="0"/>
          </a:p>
        </p:txBody>
      </p:sp>
      <p:sp>
        <p:nvSpPr>
          <p:cNvPr id="199" name="Shape 193"/>
          <p:cNvSpPr/>
          <p:nvPr/>
        </p:nvSpPr>
        <p:spPr>
          <a:xfrm>
            <a:off x="22304303" y="23772514"/>
            <a:ext cx="1984447" cy="38100"/>
          </a:xfrm>
          <a:prstGeom prst="roundRect">
            <a:avLst>
              <a:gd name="adj" fmla="val 50000"/>
            </a:avLst>
          </a:prstGeom>
          <a:solidFill>
            <a:srgbClr val="E7D8C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0" name="Text 194"/>
          <p:cNvSpPr/>
          <p:nvPr/>
        </p:nvSpPr>
        <p:spPr>
          <a:xfrm>
            <a:off x="16802101" y="24267813"/>
            <a:ext cx="7711250" cy="115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yaklaşım: anahtar kelime ön filtresi sorguların </a:t>
            </a:r>
            <a:r>
              <a:rPr lang="en-US" sz="2025" b="1" dirty="0">
                <a:solidFill>
                  <a:srgbClr val="9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%74'ünü </a:t>
            </a: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çağrısı yapmadan sınıflar; yalnızca belirsiz kalan sorgular LLM'e yönlendirilerek maliyet ve gecikme azaltılır.</a:t>
            </a:r>
            <a:endParaRPr lang="en-US" sz="2025" dirty="0"/>
          </a:p>
        </p:txBody>
      </p:sp>
      <p:sp>
        <p:nvSpPr>
          <p:cNvPr id="201" name="Text 195"/>
          <p:cNvSpPr/>
          <p:nvPr/>
        </p:nvSpPr>
        <p:spPr>
          <a:xfrm>
            <a:off x="16802101" y="25537994"/>
            <a:ext cx="7711250" cy="115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44000"/>
              </a:lnSpc>
            </a:pP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kategoride 50 test sorusu üzerinde </a:t>
            </a:r>
            <a:r>
              <a:rPr lang="en-US" sz="2025" b="1" dirty="0">
                <a:solidFill>
                  <a:srgbClr val="9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%92 doğruluk </a:t>
            </a:r>
            <a:r>
              <a:rPr lang="en-US" sz="2025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edilmiş; </a:t>
            </a:r>
            <a:r>
              <a:rPr lang="tr-TR" sz="2100" dirty="0"/>
              <a:t>hatalar çoğunlukla SEARCH ve belirsiz takip sorularında yoğunlaşmıştır.</a:t>
            </a:r>
            <a:r>
              <a:rPr lang="en-US" sz="2100" dirty="0">
                <a:solidFill>
                  <a:srgbClr val="283546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202" name="Shape 196"/>
          <p:cNvSpPr/>
          <p:nvPr/>
        </p:nvSpPr>
        <p:spPr>
          <a:xfrm>
            <a:off x="916998" y="28400533"/>
            <a:ext cx="23374350" cy="3793548"/>
          </a:xfrm>
          <a:prstGeom prst="roundRect">
            <a:avLst>
              <a:gd name="adj" fmla="val 5524"/>
            </a:avLst>
          </a:prstGeom>
          <a:solidFill>
            <a:srgbClr val="FBF6EC"/>
          </a:solidFill>
          <a:ln/>
          <a:effectLst>
            <a:outerShdw blurRad="476250" dist="190500" dir="5400000" algn="bl" rotWithShape="0">
              <a:srgbClr val="785A14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3" name="Shape 197"/>
          <p:cNvSpPr/>
          <p:nvPr/>
        </p:nvSpPr>
        <p:spPr>
          <a:xfrm>
            <a:off x="916998" y="32187153"/>
            <a:ext cx="23374350" cy="9525"/>
          </a:xfrm>
          <a:prstGeom prst="rect">
            <a:avLst/>
          </a:prstGeom>
          <a:solidFill>
            <a:srgbClr val="ECDCC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4" name="Shape 198"/>
          <p:cNvSpPr/>
          <p:nvPr/>
        </p:nvSpPr>
        <p:spPr>
          <a:xfrm>
            <a:off x="914400" y="27999016"/>
            <a:ext cx="23374350" cy="9525"/>
          </a:xfrm>
          <a:prstGeom prst="rect">
            <a:avLst/>
          </a:prstGeom>
          <a:solidFill>
            <a:srgbClr val="ECDCC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5" name="Shape 199"/>
          <p:cNvSpPr/>
          <p:nvPr/>
        </p:nvSpPr>
        <p:spPr>
          <a:xfrm>
            <a:off x="916998" y="28400533"/>
            <a:ext cx="110837" cy="3793548"/>
          </a:xfrm>
          <a:prstGeom prst="rect">
            <a:avLst/>
          </a:prstGeom>
          <a:solidFill>
            <a:srgbClr val="C98A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6" name="Shape 200"/>
          <p:cNvSpPr/>
          <p:nvPr/>
        </p:nvSpPr>
        <p:spPr>
          <a:xfrm>
            <a:off x="24284421" y="28400533"/>
            <a:ext cx="9525" cy="3793548"/>
          </a:xfrm>
          <a:prstGeom prst="rect">
            <a:avLst/>
          </a:prstGeom>
          <a:solidFill>
            <a:srgbClr val="ECDCC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7" name="Shape 201"/>
          <p:cNvSpPr/>
          <p:nvPr/>
        </p:nvSpPr>
        <p:spPr>
          <a:xfrm>
            <a:off x="1599334" y="29201931"/>
            <a:ext cx="2857500" cy="21907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9187" y="29418409"/>
            <a:ext cx="1757795" cy="1757795"/>
          </a:xfrm>
          <a:prstGeom prst="rect">
            <a:avLst/>
          </a:prstGeom>
        </p:spPr>
      </p:pic>
      <p:sp>
        <p:nvSpPr>
          <p:cNvPr id="209" name="Shape 202"/>
          <p:cNvSpPr/>
          <p:nvPr/>
        </p:nvSpPr>
        <p:spPr>
          <a:xfrm>
            <a:off x="5028334" y="28864660"/>
            <a:ext cx="2757271" cy="476250"/>
          </a:xfrm>
          <a:prstGeom prst="roundRect">
            <a:avLst>
              <a:gd name="adj" fmla="val 50000"/>
            </a:avLst>
          </a:prstGeom>
          <a:solidFill>
            <a:srgbClr val="C98A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0" name="Text 203"/>
          <p:cNvSpPr/>
          <p:nvPr/>
        </p:nvSpPr>
        <p:spPr>
          <a:xfrm>
            <a:off x="5256934" y="28950385"/>
            <a:ext cx="23827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69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TÜBİTAK 2209-A</a:t>
            </a:r>
            <a:endParaRPr lang="en-US" sz="1875" dirty="0"/>
          </a:p>
        </p:txBody>
      </p:sp>
      <p:sp>
        <p:nvSpPr>
          <p:cNvPr id="211" name="Text 204"/>
          <p:cNvSpPr/>
          <p:nvPr/>
        </p:nvSpPr>
        <p:spPr>
          <a:xfrm>
            <a:off x="5028334" y="29531410"/>
            <a:ext cx="19245125" cy="507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b="1" kern="0" spc="-33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Üniversite Öğrencileri Araştırma Projeleri Destek Programı</a:t>
            </a:r>
            <a:endParaRPr lang="en-US" sz="3300" dirty="0"/>
          </a:p>
        </p:txBody>
      </p:sp>
      <p:sp>
        <p:nvSpPr>
          <p:cNvPr id="212" name="Text 205"/>
          <p:cNvSpPr/>
          <p:nvPr/>
        </p:nvSpPr>
        <p:spPr>
          <a:xfrm>
            <a:off x="5028334" y="30153133"/>
            <a:ext cx="10791825" cy="806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10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çalışma, </a:t>
            </a:r>
            <a:r>
              <a:rPr lang="en-US" sz="210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2209-A Üniversite Öğrencileri Araştırma Projeleri Destekleme Programı </a:t>
            </a:r>
            <a:r>
              <a:rPr lang="en-US" sz="210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kapsamında değerlendirilerek </a:t>
            </a:r>
            <a:r>
              <a:rPr lang="en-US" sz="2100" b="1" dirty="0">
                <a:solidFill>
                  <a:srgbClr val="5E1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edilmiş </a:t>
            </a:r>
            <a:r>
              <a:rPr lang="en-US" sz="2100" dirty="0">
                <a:solidFill>
                  <a:srgbClr val="28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desteklenmeye hak kazanmıştır.</a:t>
            </a:r>
            <a:endParaRPr lang="en-US" sz="2100" dirty="0"/>
          </a:p>
        </p:txBody>
      </p:sp>
      <p:sp>
        <p:nvSpPr>
          <p:cNvPr id="213" name="Text 206"/>
          <p:cNvSpPr/>
          <p:nvPr/>
        </p:nvSpPr>
        <p:spPr>
          <a:xfrm>
            <a:off x="5028334" y="31297865"/>
            <a:ext cx="2777892" cy="322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24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NUMARASI</a:t>
            </a:r>
            <a:endParaRPr lang="en-US" sz="1725" dirty="0"/>
          </a:p>
        </p:txBody>
      </p:sp>
      <p:sp>
        <p:nvSpPr>
          <p:cNvPr id="214" name="Shape 207"/>
          <p:cNvSpPr/>
          <p:nvPr/>
        </p:nvSpPr>
        <p:spPr>
          <a:xfrm>
            <a:off x="7896767" y="31149795"/>
            <a:ext cx="3206678" cy="580159"/>
          </a:xfrm>
          <a:prstGeom prst="roundRect">
            <a:avLst>
              <a:gd name="adj" fmla="val 18060"/>
            </a:avLst>
          </a:prstGeom>
          <a:solidFill>
            <a:srgbClr val="FFFFFF"/>
          </a:solidFill>
          <a:ln w="6927">
            <a:solidFill>
              <a:srgbClr val="E7D8C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5" name="Text 208"/>
          <p:cNvSpPr/>
          <p:nvPr/>
        </p:nvSpPr>
        <p:spPr>
          <a:xfrm>
            <a:off x="8113244" y="31242447"/>
            <a:ext cx="2869924" cy="43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120" dirty="0">
                <a:solidFill>
                  <a:srgbClr val="5E1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1919B012542529</a:t>
            </a:r>
            <a:endParaRPr lang="en-US" sz="2400" dirty="0"/>
          </a:p>
        </p:txBody>
      </p:sp>
      <p:sp>
        <p:nvSpPr>
          <p:cNvPr id="216" name="Shape 209"/>
          <p:cNvSpPr/>
          <p:nvPr/>
        </p:nvSpPr>
        <p:spPr>
          <a:xfrm>
            <a:off x="914400" y="32605601"/>
            <a:ext cx="23374350" cy="27709"/>
          </a:xfrm>
          <a:prstGeom prst="rect">
            <a:avLst/>
          </a:prstGeom>
          <a:solidFill>
            <a:srgbClr val="5E1A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7" name="Text 210"/>
          <p:cNvSpPr/>
          <p:nvPr/>
        </p:nvSpPr>
        <p:spPr>
          <a:xfrm>
            <a:off x="914400" y="32796953"/>
            <a:ext cx="145199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Seçilmiş Kaynaklar</a:t>
            </a:r>
            <a:endParaRPr lang="en-US" sz="2100" dirty="0"/>
          </a:p>
        </p:txBody>
      </p:sp>
      <p:sp>
        <p:nvSpPr>
          <p:cNvPr id="218" name="Text 211"/>
          <p:cNvSpPr/>
          <p:nvPr/>
        </p:nvSpPr>
        <p:spPr>
          <a:xfrm>
            <a:off x="914398" y="33339011"/>
            <a:ext cx="16095481" cy="233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tr-TR" dirty="0">
                <a:solidFill>
                  <a:srgbClr val="856B5F"/>
                </a:solidFill>
              </a:rPr>
              <a:t>[1] Lewis ve ark., "</a:t>
            </a:r>
            <a:r>
              <a:rPr lang="tr-TR" dirty="0" err="1">
                <a:solidFill>
                  <a:srgbClr val="856B5F"/>
                </a:solidFill>
              </a:rPr>
              <a:t>Retrieval-Augmented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Generation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for</a:t>
            </a:r>
            <a:r>
              <a:rPr lang="tr-TR" dirty="0">
                <a:solidFill>
                  <a:srgbClr val="856B5F"/>
                </a:solidFill>
              </a:rPr>
              <a:t> Knowledge-</a:t>
            </a:r>
            <a:r>
              <a:rPr lang="tr-TR" dirty="0" err="1">
                <a:solidFill>
                  <a:srgbClr val="856B5F"/>
                </a:solidFill>
              </a:rPr>
              <a:t>Intensive</a:t>
            </a:r>
            <a:r>
              <a:rPr lang="tr-TR" dirty="0">
                <a:solidFill>
                  <a:srgbClr val="856B5F"/>
                </a:solidFill>
              </a:rPr>
              <a:t> NLP </a:t>
            </a:r>
            <a:r>
              <a:rPr lang="tr-TR" dirty="0" err="1">
                <a:solidFill>
                  <a:srgbClr val="856B5F"/>
                </a:solidFill>
              </a:rPr>
              <a:t>Tasks</a:t>
            </a:r>
            <a:r>
              <a:rPr lang="tr-TR" dirty="0">
                <a:solidFill>
                  <a:srgbClr val="856B5F"/>
                </a:solidFill>
              </a:rPr>
              <a:t>," </a:t>
            </a:r>
            <a:r>
              <a:rPr lang="tr-TR" i="1" dirty="0" err="1">
                <a:solidFill>
                  <a:srgbClr val="856B5F"/>
                </a:solidFill>
              </a:rPr>
              <a:t>NeurIPS</a:t>
            </a:r>
            <a:r>
              <a:rPr lang="tr-TR" dirty="0">
                <a:solidFill>
                  <a:srgbClr val="856B5F"/>
                </a:solidFill>
              </a:rPr>
              <a:t>, 2020.  ·  </a:t>
            </a:r>
          </a:p>
          <a:p>
            <a:pPr>
              <a:lnSpc>
                <a:spcPct val="150000"/>
              </a:lnSpc>
            </a:pPr>
            <a:r>
              <a:rPr lang="tr-TR" dirty="0">
                <a:solidFill>
                  <a:srgbClr val="856B5F"/>
                </a:solidFill>
              </a:rPr>
              <a:t>[2] </a:t>
            </a:r>
            <a:r>
              <a:rPr lang="tr-TR" dirty="0" err="1">
                <a:solidFill>
                  <a:srgbClr val="856B5F"/>
                </a:solidFill>
              </a:rPr>
              <a:t>Gao</a:t>
            </a:r>
            <a:r>
              <a:rPr lang="tr-TR" dirty="0">
                <a:solidFill>
                  <a:srgbClr val="856B5F"/>
                </a:solidFill>
              </a:rPr>
              <a:t> ve ark., "</a:t>
            </a:r>
            <a:r>
              <a:rPr lang="tr-TR" dirty="0" err="1">
                <a:solidFill>
                  <a:srgbClr val="856B5F"/>
                </a:solidFill>
              </a:rPr>
              <a:t>Retrieval-Augmented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Generation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for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Large</a:t>
            </a:r>
            <a:r>
              <a:rPr lang="tr-TR" dirty="0">
                <a:solidFill>
                  <a:srgbClr val="856B5F"/>
                </a:solidFill>
              </a:rPr>
              <a:t> Language </a:t>
            </a:r>
            <a:r>
              <a:rPr lang="tr-TR" dirty="0" err="1">
                <a:solidFill>
                  <a:srgbClr val="856B5F"/>
                </a:solidFill>
              </a:rPr>
              <a:t>Models</a:t>
            </a:r>
            <a:r>
              <a:rPr lang="tr-TR" dirty="0">
                <a:solidFill>
                  <a:srgbClr val="856B5F"/>
                </a:solidFill>
              </a:rPr>
              <a:t>: A </a:t>
            </a:r>
            <a:r>
              <a:rPr lang="tr-TR" dirty="0" err="1">
                <a:solidFill>
                  <a:srgbClr val="856B5F"/>
                </a:solidFill>
              </a:rPr>
              <a:t>Survey</a:t>
            </a:r>
            <a:r>
              <a:rPr lang="tr-TR" dirty="0">
                <a:solidFill>
                  <a:srgbClr val="856B5F"/>
                </a:solidFill>
              </a:rPr>
              <a:t>," </a:t>
            </a:r>
            <a:r>
              <a:rPr lang="tr-TR" i="1" dirty="0">
                <a:solidFill>
                  <a:srgbClr val="856B5F"/>
                </a:solidFill>
              </a:rPr>
              <a:t>arXiv:2312.10997</a:t>
            </a:r>
            <a:r>
              <a:rPr lang="tr-TR" dirty="0">
                <a:solidFill>
                  <a:srgbClr val="856B5F"/>
                </a:solidFill>
              </a:rPr>
              <a:t>, 2023.  ·  </a:t>
            </a:r>
          </a:p>
          <a:p>
            <a:pPr>
              <a:lnSpc>
                <a:spcPct val="150000"/>
              </a:lnSpc>
            </a:pPr>
            <a:r>
              <a:rPr lang="tr-TR" dirty="0">
                <a:solidFill>
                  <a:srgbClr val="856B5F"/>
                </a:solidFill>
              </a:rPr>
              <a:t>[3] </a:t>
            </a:r>
            <a:r>
              <a:rPr lang="tr-TR" dirty="0" err="1">
                <a:solidFill>
                  <a:srgbClr val="856B5F"/>
                </a:solidFill>
              </a:rPr>
              <a:t>Yu</a:t>
            </a:r>
            <a:r>
              <a:rPr lang="tr-TR" dirty="0">
                <a:solidFill>
                  <a:srgbClr val="856B5F"/>
                </a:solidFill>
              </a:rPr>
              <a:t> ve ark., "</a:t>
            </a:r>
            <a:r>
              <a:rPr lang="tr-TR" dirty="0" err="1">
                <a:solidFill>
                  <a:srgbClr val="856B5F"/>
                </a:solidFill>
              </a:rPr>
              <a:t>Spider</a:t>
            </a:r>
            <a:r>
              <a:rPr lang="tr-TR" dirty="0">
                <a:solidFill>
                  <a:srgbClr val="856B5F"/>
                </a:solidFill>
              </a:rPr>
              <a:t>: A </a:t>
            </a:r>
            <a:r>
              <a:rPr lang="tr-TR" dirty="0" err="1">
                <a:solidFill>
                  <a:srgbClr val="856B5F"/>
                </a:solidFill>
              </a:rPr>
              <a:t>Large-Scale</a:t>
            </a:r>
            <a:r>
              <a:rPr lang="tr-TR" dirty="0">
                <a:solidFill>
                  <a:srgbClr val="856B5F"/>
                </a:solidFill>
              </a:rPr>
              <a:t> Human-</a:t>
            </a:r>
            <a:r>
              <a:rPr lang="tr-TR" dirty="0" err="1">
                <a:solidFill>
                  <a:srgbClr val="856B5F"/>
                </a:solidFill>
              </a:rPr>
              <a:t>Labeled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Dataset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for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Complex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and</a:t>
            </a:r>
            <a:r>
              <a:rPr lang="tr-TR" dirty="0">
                <a:solidFill>
                  <a:srgbClr val="856B5F"/>
                </a:solidFill>
              </a:rPr>
              <a:t> Cross-Domain </a:t>
            </a:r>
            <a:r>
              <a:rPr lang="tr-TR" dirty="0" err="1">
                <a:solidFill>
                  <a:srgbClr val="856B5F"/>
                </a:solidFill>
              </a:rPr>
              <a:t>Semantic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Parsing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and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Text</a:t>
            </a:r>
            <a:r>
              <a:rPr lang="tr-TR" dirty="0">
                <a:solidFill>
                  <a:srgbClr val="856B5F"/>
                </a:solidFill>
              </a:rPr>
              <a:t>-</a:t>
            </a:r>
            <a:r>
              <a:rPr lang="tr-TR" dirty="0" err="1">
                <a:solidFill>
                  <a:srgbClr val="856B5F"/>
                </a:solidFill>
              </a:rPr>
              <a:t>to</a:t>
            </a:r>
            <a:r>
              <a:rPr lang="tr-TR" dirty="0">
                <a:solidFill>
                  <a:srgbClr val="856B5F"/>
                </a:solidFill>
              </a:rPr>
              <a:t>-SQL </a:t>
            </a:r>
            <a:r>
              <a:rPr lang="tr-TR" dirty="0" err="1">
                <a:solidFill>
                  <a:srgbClr val="856B5F"/>
                </a:solidFill>
              </a:rPr>
              <a:t>Task</a:t>
            </a:r>
            <a:r>
              <a:rPr lang="tr-TR" dirty="0">
                <a:solidFill>
                  <a:srgbClr val="856B5F"/>
                </a:solidFill>
              </a:rPr>
              <a:t>," </a:t>
            </a:r>
            <a:r>
              <a:rPr lang="tr-TR" i="1" dirty="0">
                <a:solidFill>
                  <a:srgbClr val="856B5F"/>
                </a:solidFill>
              </a:rPr>
              <a:t>EMNLP</a:t>
            </a:r>
            <a:r>
              <a:rPr lang="tr-TR" dirty="0">
                <a:solidFill>
                  <a:srgbClr val="856B5F"/>
                </a:solidFill>
              </a:rPr>
              <a:t>, 2018.  ·  </a:t>
            </a:r>
          </a:p>
          <a:p>
            <a:pPr>
              <a:lnSpc>
                <a:spcPct val="150000"/>
              </a:lnSpc>
            </a:pPr>
            <a:r>
              <a:rPr lang="tr-TR" dirty="0">
                <a:solidFill>
                  <a:srgbClr val="856B5F"/>
                </a:solidFill>
              </a:rPr>
              <a:t>[4] </a:t>
            </a:r>
            <a:r>
              <a:rPr lang="tr-TR" dirty="0" err="1">
                <a:solidFill>
                  <a:srgbClr val="856B5F"/>
                </a:solidFill>
              </a:rPr>
              <a:t>Pourreza</a:t>
            </a:r>
            <a:r>
              <a:rPr lang="tr-TR" dirty="0">
                <a:solidFill>
                  <a:srgbClr val="856B5F"/>
                </a:solidFill>
              </a:rPr>
              <a:t> &amp; </a:t>
            </a:r>
            <a:r>
              <a:rPr lang="tr-TR" dirty="0" err="1">
                <a:solidFill>
                  <a:srgbClr val="856B5F"/>
                </a:solidFill>
              </a:rPr>
              <a:t>Rafiei</a:t>
            </a:r>
            <a:r>
              <a:rPr lang="tr-TR" dirty="0">
                <a:solidFill>
                  <a:srgbClr val="856B5F"/>
                </a:solidFill>
              </a:rPr>
              <a:t>, "DIN-SQL: </a:t>
            </a:r>
            <a:r>
              <a:rPr lang="tr-TR" dirty="0" err="1">
                <a:solidFill>
                  <a:srgbClr val="856B5F"/>
                </a:solidFill>
              </a:rPr>
              <a:t>Decomposed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In-Context</a:t>
            </a:r>
            <a:r>
              <a:rPr lang="tr-TR" dirty="0">
                <a:solidFill>
                  <a:srgbClr val="856B5F"/>
                </a:solidFill>
              </a:rPr>
              <a:t> Learning of </a:t>
            </a:r>
            <a:r>
              <a:rPr lang="tr-TR" dirty="0" err="1">
                <a:solidFill>
                  <a:srgbClr val="856B5F"/>
                </a:solidFill>
              </a:rPr>
              <a:t>Text</a:t>
            </a:r>
            <a:r>
              <a:rPr lang="tr-TR" dirty="0">
                <a:solidFill>
                  <a:srgbClr val="856B5F"/>
                </a:solidFill>
              </a:rPr>
              <a:t>-</a:t>
            </a:r>
            <a:r>
              <a:rPr lang="tr-TR" dirty="0" err="1">
                <a:solidFill>
                  <a:srgbClr val="856B5F"/>
                </a:solidFill>
              </a:rPr>
              <a:t>to</a:t>
            </a:r>
            <a:r>
              <a:rPr lang="tr-TR" dirty="0">
                <a:solidFill>
                  <a:srgbClr val="856B5F"/>
                </a:solidFill>
              </a:rPr>
              <a:t>-SQL </a:t>
            </a:r>
            <a:r>
              <a:rPr lang="tr-TR" dirty="0" err="1">
                <a:solidFill>
                  <a:srgbClr val="856B5F"/>
                </a:solidFill>
              </a:rPr>
              <a:t>with</a:t>
            </a:r>
            <a:r>
              <a:rPr lang="tr-TR" dirty="0">
                <a:solidFill>
                  <a:srgbClr val="856B5F"/>
                </a:solidFill>
              </a:rPr>
              <a:t> Self-</a:t>
            </a:r>
            <a:r>
              <a:rPr lang="tr-TR" dirty="0" err="1">
                <a:solidFill>
                  <a:srgbClr val="856B5F"/>
                </a:solidFill>
              </a:rPr>
              <a:t>Correction</a:t>
            </a:r>
            <a:r>
              <a:rPr lang="tr-TR" dirty="0">
                <a:solidFill>
                  <a:srgbClr val="856B5F"/>
                </a:solidFill>
              </a:rPr>
              <a:t>," </a:t>
            </a:r>
            <a:r>
              <a:rPr lang="tr-TR" i="1" dirty="0" err="1">
                <a:solidFill>
                  <a:srgbClr val="856B5F"/>
                </a:solidFill>
              </a:rPr>
              <a:t>NeurIPS</a:t>
            </a:r>
            <a:r>
              <a:rPr lang="tr-TR" dirty="0">
                <a:solidFill>
                  <a:srgbClr val="856B5F"/>
                </a:solidFill>
              </a:rPr>
              <a:t>, 2023.  ·  </a:t>
            </a:r>
          </a:p>
          <a:p>
            <a:pPr>
              <a:lnSpc>
                <a:spcPct val="150000"/>
              </a:lnSpc>
            </a:pPr>
            <a:r>
              <a:rPr lang="tr-TR" dirty="0">
                <a:solidFill>
                  <a:srgbClr val="856B5F"/>
                </a:solidFill>
              </a:rPr>
              <a:t>[5] Wang ve ark., "</a:t>
            </a:r>
            <a:r>
              <a:rPr lang="tr-TR" dirty="0" err="1">
                <a:solidFill>
                  <a:srgbClr val="856B5F"/>
                </a:solidFill>
              </a:rPr>
              <a:t>Multilingual</a:t>
            </a:r>
            <a:r>
              <a:rPr lang="tr-TR" dirty="0">
                <a:solidFill>
                  <a:srgbClr val="856B5F"/>
                </a:solidFill>
              </a:rPr>
              <a:t> E5 </a:t>
            </a:r>
            <a:r>
              <a:rPr lang="tr-TR" dirty="0" err="1">
                <a:solidFill>
                  <a:srgbClr val="856B5F"/>
                </a:solidFill>
              </a:rPr>
              <a:t>Text</a:t>
            </a:r>
            <a:r>
              <a:rPr lang="tr-TR" dirty="0">
                <a:solidFill>
                  <a:srgbClr val="856B5F"/>
                </a:solidFill>
              </a:rPr>
              <a:t> </a:t>
            </a:r>
            <a:r>
              <a:rPr lang="tr-TR" dirty="0" err="1">
                <a:solidFill>
                  <a:srgbClr val="856B5F"/>
                </a:solidFill>
              </a:rPr>
              <a:t>Embeddings</a:t>
            </a:r>
            <a:r>
              <a:rPr lang="tr-TR" dirty="0">
                <a:solidFill>
                  <a:srgbClr val="856B5F"/>
                </a:solidFill>
              </a:rPr>
              <a:t>: A Technical Report," </a:t>
            </a:r>
            <a:r>
              <a:rPr lang="tr-TR" i="1" dirty="0">
                <a:solidFill>
                  <a:srgbClr val="856B5F"/>
                </a:solidFill>
              </a:rPr>
              <a:t>arXiv:2402.05672</a:t>
            </a:r>
            <a:r>
              <a:rPr lang="tr-TR" dirty="0">
                <a:solidFill>
                  <a:srgbClr val="856B5F"/>
                </a:solidFill>
              </a:rPr>
              <a:t>, 2024.</a:t>
            </a:r>
            <a:endParaRPr lang="en-US" dirty="0">
              <a:solidFill>
                <a:srgbClr val="856B5F"/>
              </a:solidFill>
            </a:endParaRPr>
          </a:p>
        </p:txBody>
      </p:sp>
      <p:sp>
        <p:nvSpPr>
          <p:cNvPr id="229" name="Text 222"/>
          <p:cNvSpPr/>
          <p:nvPr/>
        </p:nvSpPr>
        <p:spPr>
          <a:xfrm>
            <a:off x="18206086" y="32796953"/>
            <a:ext cx="6082665" cy="460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325" b="1" dirty="0">
                <a:solidFill>
                  <a:srgbClr val="5E1A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Kullanılan Teknolojiler</a:t>
            </a:r>
            <a:endParaRPr lang="en-US" sz="2325" dirty="0"/>
          </a:p>
        </p:txBody>
      </p:sp>
      <p:sp>
        <p:nvSpPr>
          <p:cNvPr id="230" name="Shape 223"/>
          <p:cNvSpPr/>
          <p:nvPr/>
        </p:nvSpPr>
        <p:spPr>
          <a:xfrm>
            <a:off x="18678958" y="33333817"/>
            <a:ext cx="1509171" cy="382732"/>
          </a:xfrm>
          <a:prstGeom prst="roundRect">
            <a:avLst>
              <a:gd name="adj" fmla="val 22398"/>
            </a:avLst>
          </a:prstGeom>
          <a:solidFill>
            <a:srgbClr val="F2E7D9"/>
          </a:solidFill>
          <a:ln w="6927">
            <a:solidFill>
              <a:srgbClr val="E7D2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1" name="Text 224"/>
          <p:cNvSpPr/>
          <p:nvPr/>
        </p:nvSpPr>
        <p:spPr>
          <a:xfrm>
            <a:off x="18752560" y="33407419"/>
            <a:ext cx="1285767" cy="273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</a:t>
            </a:r>
            <a:endParaRPr lang="en-US" sz="1575" dirty="0"/>
          </a:p>
        </p:txBody>
      </p:sp>
      <p:sp>
        <p:nvSpPr>
          <p:cNvPr id="232" name="Shape 225"/>
          <p:cNvSpPr/>
          <p:nvPr/>
        </p:nvSpPr>
        <p:spPr>
          <a:xfrm>
            <a:off x="20302430" y="33333817"/>
            <a:ext cx="1289230" cy="382732"/>
          </a:xfrm>
          <a:prstGeom prst="roundRect">
            <a:avLst>
              <a:gd name="adj" fmla="val 22398"/>
            </a:avLst>
          </a:prstGeom>
          <a:solidFill>
            <a:srgbClr val="F2E7D9"/>
          </a:solidFill>
          <a:ln w="6927">
            <a:solidFill>
              <a:srgbClr val="E7D2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3" name="Text 226"/>
          <p:cNvSpPr/>
          <p:nvPr/>
        </p:nvSpPr>
        <p:spPr>
          <a:xfrm>
            <a:off x="20376032" y="33407419"/>
            <a:ext cx="1065826" cy="273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3.0</a:t>
            </a:r>
            <a:endParaRPr lang="en-US" sz="1575" dirty="0"/>
          </a:p>
        </p:txBody>
      </p:sp>
      <p:sp>
        <p:nvSpPr>
          <p:cNvPr id="234" name="Shape 227"/>
          <p:cNvSpPr/>
          <p:nvPr/>
        </p:nvSpPr>
        <p:spPr>
          <a:xfrm>
            <a:off x="21705961" y="33333817"/>
            <a:ext cx="1289230" cy="382732"/>
          </a:xfrm>
          <a:prstGeom prst="roundRect">
            <a:avLst>
              <a:gd name="adj" fmla="val 22398"/>
            </a:avLst>
          </a:prstGeom>
          <a:solidFill>
            <a:srgbClr val="F2E7D9"/>
          </a:solidFill>
          <a:ln w="6927">
            <a:solidFill>
              <a:srgbClr val="E7D2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5" name="Text 228"/>
          <p:cNvSpPr/>
          <p:nvPr/>
        </p:nvSpPr>
        <p:spPr>
          <a:xfrm>
            <a:off x="21779563" y="33407419"/>
            <a:ext cx="1065826" cy="273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endParaRPr lang="en-US" sz="1575" dirty="0"/>
          </a:p>
        </p:txBody>
      </p:sp>
      <p:sp>
        <p:nvSpPr>
          <p:cNvPr id="236" name="Shape 229"/>
          <p:cNvSpPr/>
          <p:nvPr/>
        </p:nvSpPr>
        <p:spPr>
          <a:xfrm>
            <a:off x="23109490" y="33333817"/>
            <a:ext cx="1179260" cy="382732"/>
          </a:xfrm>
          <a:prstGeom prst="roundRect">
            <a:avLst>
              <a:gd name="adj" fmla="val 22398"/>
            </a:avLst>
          </a:prstGeom>
          <a:solidFill>
            <a:srgbClr val="F2E7D9"/>
          </a:solidFill>
          <a:ln w="6927">
            <a:solidFill>
              <a:srgbClr val="E7D2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7" name="Text 230"/>
          <p:cNvSpPr/>
          <p:nvPr/>
        </p:nvSpPr>
        <p:spPr>
          <a:xfrm>
            <a:off x="23183092" y="33407419"/>
            <a:ext cx="955855" cy="273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1575" dirty="0"/>
          </a:p>
        </p:txBody>
      </p:sp>
      <p:sp>
        <p:nvSpPr>
          <p:cNvPr id="238" name="Shape 231"/>
          <p:cNvSpPr/>
          <p:nvPr/>
        </p:nvSpPr>
        <p:spPr>
          <a:xfrm>
            <a:off x="19972411" y="33830848"/>
            <a:ext cx="1509171" cy="382732"/>
          </a:xfrm>
          <a:prstGeom prst="roundRect">
            <a:avLst>
              <a:gd name="adj" fmla="val 22398"/>
            </a:avLst>
          </a:prstGeom>
          <a:solidFill>
            <a:srgbClr val="F2E7D9"/>
          </a:solidFill>
          <a:ln w="6927">
            <a:solidFill>
              <a:srgbClr val="E7D2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9" name="Text 232"/>
          <p:cNvSpPr/>
          <p:nvPr/>
        </p:nvSpPr>
        <p:spPr>
          <a:xfrm>
            <a:off x="20046013" y="33904450"/>
            <a:ext cx="1285767" cy="273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GPT-4o-mini</a:t>
            </a:r>
            <a:endParaRPr lang="en-US" sz="1575" dirty="0"/>
          </a:p>
        </p:txBody>
      </p:sp>
      <p:sp>
        <p:nvSpPr>
          <p:cNvPr id="240" name="Shape 233"/>
          <p:cNvSpPr/>
          <p:nvPr/>
        </p:nvSpPr>
        <p:spPr>
          <a:xfrm>
            <a:off x="21595881" y="33830848"/>
            <a:ext cx="1619142" cy="382732"/>
          </a:xfrm>
          <a:prstGeom prst="roundRect">
            <a:avLst>
              <a:gd name="adj" fmla="val 22398"/>
            </a:avLst>
          </a:prstGeom>
          <a:solidFill>
            <a:srgbClr val="F2E7D9"/>
          </a:solidFill>
          <a:ln w="6927">
            <a:solidFill>
              <a:srgbClr val="E7D2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1" name="Text 234"/>
          <p:cNvSpPr/>
          <p:nvPr/>
        </p:nvSpPr>
        <p:spPr>
          <a:xfrm>
            <a:off x="21669484" y="33904450"/>
            <a:ext cx="1395737" cy="273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Flash</a:t>
            </a:r>
            <a:endParaRPr lang="en-US" sz="1575" dirty="0"/>
          </a:p>
        </p:txBody>
      </p:sp>
      <p:sp>
        <p:nvSpPr>
          <p:cNvPr id="242" name="Shape 235"/>
          <p:cNvSpPr/>
          <p:nvPr/>
        </p:nvSpPr>
        <p:spPr>
          <a:xfrm>
            <a:off x="23329323" y="33830848"/>
            <a:ext cx="959427" cy="382732"/>
          </a:xfrm>
          <a:prstGeom prst="roundRect">
            <a:avLst>
              <a:gd name="adj" fmla="val 22398"/>
            </a:avLst>
          </a:prstGeom>
          <a:solidFill>
            <a:srgbClr val="F2E7D9"/>
          </a:solidFill>
          <a:ln w="6927">
            <a:solidFill>
              <a:srgbClr val="E7D2B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3" name="Text 236"/>
          <p:cNvSpPr/>
          <p:nvPr/>
        </p:nvSpPr>
        <p:spPr>
          <a:xfrm>
            <a:off x="23402925" y="33904450"/>
            <a:ext cx="736023" cy="273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E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575" dirty="0"/>
          </a:p>
        </p:txBody>
      </p:sp>
      <p:sp>
        <p:nvSpPr>
          <p:cNvPr id="244" name="Text 237"/>
          <p:cNvSpPr/>
          <p:nvPr/>
        </p:nvSpPr>
        <p:spPr>
          <a:xfrm>
            <a:off x="18206086" y="34346931"/>
            <a:ext cx="6082665" cy="30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85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Sakarya Üniversitesi · 2025–2026 Bahar Dönemi</a:t>
            </a:r>
            <a:endParaRPr lang="en-US" sz="1725" dirty="0"/>
          </a:p>
        </p:txBody>
      </p:sp>
      <p:pic>
        <p:nvPicPr>
          <p:cNvPr id="220" name="Resim 219">
            <a:extLst>
              <a:ext uri="{FF2B5EF4-FFF2-40B4-BE49-F238E27FC236}">
                <a16:creationId xmlns:a16="http://schemas.microsoft.com/office/drawing/2014/main" id="{A91A845B-77CE-2C0B-90F7-5AF77D51A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296" y="15273763"/>
            <a:ext cx="7531677" cy="3410645"/>
          </a:xfrm>
          <a:prstGeom prst="rect">
            <a:avLst/>
          </a:prstGeom>
        </p:spPr>
      </p:pic>
      <p:pic>
        <p:nvPicPr>
          <p:cNvPr id="227" name="Resim 226">
            <a:extLst>
              <a:ext uri="{FF2B5EF4-FFF2-40B4-BE49-F238E27FC236}">
                <a16:creationId xmlns:a16="http://schemas.microsoft.com/office/drawing/2014/main" id="{DD05EA55-456D-86D1-F656-3D26700E9F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3222" y="18775733"/>
            <a:ext cx="7531678" cy="3381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862</Words>
  <Application>Microsoft Office PowerPoint</Application>
  <PresentationFormat>Özel</PresentationFormat>
  <Paragraphs>134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Times New Roman</vt:lpstr>
      <vt:lpstr>Office Theme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Egemen Bozca</cp:lastModifiedBy>
  <cp:revision>4</cp:revision>
  <dcterms:created xsi:type="dcterms:W3CDTF">2026-06-06T13:01:05Z</dcterms:created>
  <dcterms:modified xsi:type="dcterms:W3CDTF">2026-06-08T13:05:24Z</dcterms:modified>
</cp:coreProperties>
</file>