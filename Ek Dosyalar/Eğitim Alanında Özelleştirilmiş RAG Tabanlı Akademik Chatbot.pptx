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7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5033" autoAdjust="0"/>
  </p:normalViewPr>
  <p:slideViewPr>
    <p:cSldViewPr snapToGrid="0" snapToObjects="1">
      <p:cViewPr varScale="1">
        <p:scale>
          <a:sx n="52" d="100"/>
          <a:sy n="52" d="100"/>
        </p:scale>
        <p:origin x="850" y="72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97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239000" cy="10287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6477000" y="0"/>
            <a:ext cx="1524000" cy="10287000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-1143000" y="-1143000"/>
            <a:ext cx="3238500" cy="3238500"/>
          </a:xfrm>
          <a:prstGeom prst="ellipse">
            <a:avLst/>
          </a:prstGeom>
          <a:solidFill>
            <a:srgbClr val="1E40AF">
              <a:alpha val="55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1905000" y="7810500"/>
            <a:ext cx="4000500" cy="4000500"/>
          </a:xfrm>
          <a:prstGeom prst="ellipse">
            <a:avLst/>
          </a:prstGeom>
          <a:solidFill>
            <a:srgbClr val="1D4ED8">
              <a:alpha val="4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857250" y="3565624"/>
            <a:ext cx="2988618" cy="43815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1076325" y="3660874"/>
            <a:ext cx="264012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Lisans Bitirme Projesi · 2026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7250" y="4346674"/>
            <a:ext cx="5690235" cy="32227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4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Eğitim Alanında Özelleştirilmiş RAG </a:t>
            </a:r>
            <a:r>
              <a:rPr lang="en-US" sz="46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Tabanlı</a:t>
            </a:r>
            <a:r>
              <a:rPr lang="en-US" sz="4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tr-TR" sz="4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Akademik </a:t>
            </a:r>
            <a:r>
              <a:rPr lang="en-US" sz="4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</a:t>
            </a:r>
            <a:endParaRPr lang="en-US" sz="4650" dirty="0"/>
          </a:p>
        </p:txBody>
      </p:sp>
      <p:sp>
        <p:nvSpPr>
          <p:cNvPr id="10" name="Text 8"/>
          <p:cNvSpPr/>
          <p:nvPr/>
        </p:nvSpPr>
        <p:spPr>
          <a:xfrm>
            <a:off x="8858250" y="4090987"/>
            <a:ext cx="88296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400" kern="0" spc="135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HAZIRLAYAN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858250" y="4433888"/>
            <a:ext cx="8829675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Egemen </a:t>
            </a:r>
            <a:r>
              <a:rPr lang="en-US" sz="4000" b="1" dirty="0" err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Bozc</a:t>
            </a:r>
            <a:r>
              <a:rPr lang="tr-TR" sz="4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858249" y="5567363"/>
            <a:ext cx="88296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Bilgisayar Mühendisliği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858249" y="6100763"/>
            <a:ext cx="800100" cy="352425"/>
          </a:xfrm>
          <a:prstGeom prst="roundRect">
            <a:avLst>
              <a:gd name="adj" fmla="val 18919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9001124" y="6167438"/>
            <a:ext cx="5905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Flask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772649" y="6100763"/>
            <a:ext cx="903089" cy="352425"/>
          </a:xfrm>
          <a:prstGeom prst="roundRect">
            <a:avLst>
              <a:gd name="adj" fmla="val 18919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9915524" y="6167438"/>
            <a:ext cx="69353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0790038" y="6100763"/>
            <a:ext cx="1108770" cy="352425"/>
          </a:xfrm>
          <a:prstGeom prst="roundRect">
            <a:avLst>
              <a:gd name="adj" fmla="val 18919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10932913" y="6167438"/>
            <a:ext cx="8992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ChromaDB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2013108" y="6100763"/>
            <a:ext cx="1417439" cy="352425"/>
          </a:xfrm>
          <a:prstGeom prst="roundRect">
            <a:avLst>
              <a:gd name="adj" fmla="val 18919"/>
            </a:avLst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12155983" y="6167438"/>
            <a:ext cx="12078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HuggingFace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3544847" y="6100763"/>
            <a:ext cx="1417439" cy="352425"/>
          </a:xfrm>
          <a:prstGeom prst="roundRect">
            <a:avLst>
              <a:gd name="adj" fmla="val 18919"/>
            </a:avLst>
          </a:prstGeom>
          <a:solidFill>
            <a:srgbClr val="ECFEFF"/>
          </a:solidFill>
          <a:ln w="9525">
            <a:solidFill>
              <a:srgbClr val="A5F3F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13687722" y="6167438"/>
            <a:ext cx="12078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GPT-4o-mini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5076586" y="6100763"/>
            <a:ext cx="903089" cy="352425"/>
          </a:xfrm>
          <a:prstGeom prst="roundRect">
            <a:avLst>
              <a:gd name="adj" fmla="val 18919"/>
            </a:avLst>
          </a:prstGeom>
          <a:solidFill>
            <a:srgbClr val="ECFEFF"/>
          </a:solidFill>
          <a:ln w="9525">
            <a:solidFill>
              <a:srgbClr val="A5F3F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15219461" y="6167438"/>
            <a:ext cx="69353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</a:t>
            </a:r>
            <a:endParaRPr lang="en-US" sz="135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23A9A348-A5E5-C76D-596B-7A43EA2B0A85}"/>
              </a:ext>
            </a:extLst>
          </p:cNvPr>
          <p:cNvSpPr/>
          <p:nvPr/>
        </p:nvSpPr>
        <p:spPr>
          <a:xfrm>
            <a:off x="8858251" y="5096419"/>
            <a:ext cx="3677132" cy="4275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tr-TR" sz="2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B221210037</a:t>
            </a:r>
            <a:endParaRPr lang="en-US" sz="2400" dirty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52500" y="914400"/>
            <a:ext cx="384125" cy="257175"/>
          </a:xfrm>
          <a:prstGeom prst="roundRect">
            <a:avLst>
              <a:gd name="adj" fmla="val 18519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1047750" y="942975"/>
            <a:ext cx="26982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0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50925" y="938213"/>
            <a:ext cx="22784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02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&amp; MOTIVASYON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952500" y="1323975"/>
            <a:ext cx="16874490" cy="614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Neden böyle bir </a:t>
            </a:r>
            <a:r>
              <a:rPr lang="en-US" sz="4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sisteme </a:t>
            </a:r>
            <a:r>
              <a:rPr lang="en-US" sz="4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ihtiyaç var?</a:t>
            </a:r>
            <a:endParaRPr lang="en-US" sz="4200" dirty="0"/>
          </a:p>
        </p:txBody>
      </p:sp>
      <p:grpSp>
        <p:nvGrpSpPr>
          <p:cNvPr id="29" name="Grup 28">
            <a:extLst>
              <a:ext uri="{FF2B5EF4-FFF2-40B4-BE49-F238E27FC236}">
                <a16:creationId xmlns:a16="http://schemas.microsoft.com/office/drawing/2014/main" id="{E6B2F896-495E-66DE-E707-64B1B8C5C273}"/>
              </a:ext>
            </a:extLst>
          </p:cNvPr>
          <p:cNvGrpSpPr/>
          <p:nvPr/>
        </p:nvGrpSpPr>
        <p:grpSpPr>
          <a:xfrm>
            <a:off x="12384001" y="2278059"/>
            <a:ext cx="4320000" cy="3689980"/>
            <a:chOff x="7013896" y="2482944"/>
            <a:chExt cx="4320000" cy="3060000"/>
          </a:xfrm>
        </p:grpSpPr>
        <p:sp>
          <p:nvSpPr>
            <p:cNvPr id="15" name="Shape 13"/>
            <p:cNvSpPr/>
            <p:nvPr/>
          </p:nvSpPr>
          <p:spPr>
            <a:xfrm>
              <a:off x="7013896" y="2482944"/>
              <a:ext cx="4320000" cy="3060000"/>
            </a:xfrm>
            <a:prstGeom prst="roundRect">
              <a:avLst>
                <a:gd name="adj" fmla="val 7028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  <a:prstDash val="solid"/>
            </a:ln>
            <a:effectLst>
              <a:outerShdw blurRad="28575" dist="9525" dir="5400000" algn="bl" rotWithShape="0">
                <a:srgbClr val="0F172A">
                  <a:alpha val="5000"/>
                </a:srgbClr>
              </a:outerShdw>
            </a:effectLst>
          </p:spPr>
          <p:txBody>
            <a:bodyPr/>
            <a:lstStyle/>
            <a:p>
              <a:endParaRPr lang="tr-TR"/>
            </a:p>
          </p:txBody>
        </p:sp>
        <p:sp>
          <p:nvSpPr>
            <p:cNvPr id="16" name="Shape 14"/>
            <p:cNvSpPr/>
            <p:nvPr/>
          </p:nvSpPr>
          <p:spPr>
            <a:xfrm>
              <a:off x="7013896" y="2488297"/>
              <a:ext cx="4320000" cy="72000"/>
            </a:xfrm>
            <a:prstGeom prst="rect">
              <a:avLst/>
            </a:prstGeom>
            <a:solidFill>
              <a:srgbClr val="059669"/>
            </a:solidFill>
            <a:ln/>
          </p:spPr>
          <p:txBody>
            <a:bodyPr/>
            <a:lstStyle/>
            <a:p>
              <a:endParaRPr lang="tr-TR"/>
            </a:p>
          </p:txBody>
        </p:sp>
        <p:sp>
          <p:nvSpPr>
            <p:cNvPr id="17" name="Text 15"/>
            <p:cNvSpPr/>
            <p:nvPr/>
          </p:nvSpPr>
          <p:spPr>
            <a:xfrm>
              <a:off x="7078980" y="2727413"/>
              <a:ext cx="4191000" cy="36589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0F172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Mevcut çözümlerin kısıtı</a:t>
              </a:r>
              <a:endParaRPr lang="en-US" sz="20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7078980" y="3058966"/>
              <a:ext cx="4191000" cy="227508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tr-T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Sınırlı Yapı:</a:t>
              </a:r>
              <a:r>
                <a:rPr lang="tr-TR" sz="1600" dirty="0">
                  <a:latin typeface="Arial" panose="020B0604020202020204" pitchFamily="34" charset="0"/>
                  <a:cs typeface="Arial" panose="020B0604020202020204" pitchFamily="34" charset="0"/>
                </a:rPr>
                <a:t> Dinamik sorgulama yerine yalnızca önceden tanımlanmış Sıkça Sorulan Sorular (SSS) şablonlarıyla sınırlı kalınması.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tr-T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Tek Kaynak:</a:t>
              </a:r>
              <a:r>
                <a:rPr lang="tr-TR" sz="1600" dirty="0">
                  <a:latin typeface="Arial" panose="020B0604020202020204" pitchFamily="34" charset="0"/>
                  <a:cs typeface="Arial" panose="020B0604020202020204" pitchFamily="34" charset="0"/>
                </a:rPr>
                <a:t> SQL, PDF ve Web verilerini birlikte işleyememeleri.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tr-T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Dil Kısıtı:</a:t>
              </a:r>
              <a:r>
                <a:rPr lang="tr-TR" sz="1600" dirty="0">
                  <a:latin typeface="Arial" panose="020B0604020202020204" pitchFamily="34" charset="0"/>
                  <a:cs typeface="Arial" panose="020B0604020202020204" pitchFamily="34" charset="0"/>
                </a:rPr>
                <a:t> Türkçe akademik dildeki düşük anlama başarısı.</a:t>
              </a:r>
            </a:p>
          </p:txBody>
        </p:sp>
      </p:grpSp>
      <p:grpSp>
        <p:nvGrpSpPr>
          <p:cNvPr id="2" name="Grup 1">
            <a:extLst>
              <a:ext uri="{FF2B5EF4-FFF2-40B4-BE49-F238E27FC236}">
                <a16:creationId xmlns:a16="http://schemas.microsoft.com/office/drawing/2014/main" id="{7939D5DF-4F5E-FEB3-44D2-4C268D1184A3}"/>
              </a:ext>
            </a:extLst>
          </p:cNvPr>
          <p:cNvGrpSpPr/>
          <p:nvPr/>
        </p:nvGrpSpPr>
        <p:grpSpPr>
          <a:xfrm>
            <a:off x="1583999" y="6754646"/>
            <a:ext cx="15120001" cy="2594140"/>
            <a:chOff x="1583999" y="5966655"/>
            <a:chExt cx="15120001" cy="3060000"/>
          </a:xfrm>
        </p:grpSpPr>
        <p:sp>
          <p:nvSpPr>
            <p:cNvPr id="19" name="Shape 17"/>
            <p:cNvSpPr/>
            <p:nvPr/>
          </p:nvSpPr>
          <p:spPr>
            <a:xfrm>
              <a:off x="1584000" y="5966655"/>
              <a:ext cx="15120000" cy="3060000"/>
            </a:xfrm>
            <a:prstGeom prst="roundRect">
              <a:avLst>
                <a:gd name="adj" fmla="val 3120"/>
              </a:avLst>
            </a:prstGeom>
            <a:solidFill>
              <a:schemeClr val="bg1"/>
            </a:solidFill>
            <a:ln/>
          </p:spPr>
          <p:txBody>
            <a:bodyPr/>
            <a:lstStyle/>
            <a:p>
              <a:endParaRPr lang="tr-TR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1584000" y="6167075"/>
              <a:ext cx="15119999" cy="49696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tr-TR" sz="3200" b="1" kern="0" spc="120" dirty="0">
                  <a:latin typeface="Arial" panose="020B0604020202020204" pitchFamily="34" charset="0"/>
                  <a:ea typeface="Courier New" pitchFamily="34" charset="-122"/>
                  <a:cs typeface="Arial" panose="020B0604020202020204" pitchFamily="34" charset="0"/>
                </a:rPr>
                <a:t>Hedef</a:t>
              </a:r>
              <a:endParaRPr 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1678329" y="6941493"/>
              <a:ext cx="14942917" cy="203597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algn="just">
                <a:lnSpc>
                  <a:spcPct val="140000"/>
                </a:lnSpc>
              </a:pPr>
              <a:r>
                <a:rPr lang="tr-TR" sz="2000" dirty="0">
                  <a:latin typeface="Arial" panose="020B0604020202020204" pitchFamily="34" charset="0"/>
                  <a:cs typeface="Arial" panose="020B0604020202020204" pitchFamily="34" charset="0"/>
                </a:rPr>
                <a:t>Proje; teknik bilgi (SQL gibi) gerektirmeden, öğrencilerin ve akademisyenlerin tamamen doğal dille soru sorarak üniversite veri tabanına, akademik belgelere ve web sitelerine tek bir noktadan 7/24 erişebilmesini sağlayan akıllı bir yapay zeka asistanı geliştirmeyi amaçlamaktadır.</a:t>
              </a:r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Shape 14">
              <a:extLst>
                <a:ext uri="{FF2B5EF4-FFF2-40B4-BE49-F238E27FC236}">
                  <a16:creationId xmlns:a16="http://schemas.microsoft.com/office/drawing/2014/main" id="{7B2126E0-E3F2-7716-C3A3-AB25A410023A}"/>
                </a:ext>
              </a:extLst>
            </p:cNvPr>
            <p:cNvSpPr/>
            <p:nvPr/>
          </p:nvSpPr>
          <p:spPr>
            <a:xfrm>
              <a:off x="1583999" y="5971222"/>
              <a:ext cx="15120000" cy="72000"/>
            </a:xfrm>
            <a:prstGeom prst="rect">
              <a:avLst/>
            </a:prstGeom>
            <a:solidFill>
              <a:srgbClr val="FF0000"/>
            </a:solidFill>
            <a:ln/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28" name="Grup 27">
            <a:extLst>
              <a:ext uri="{FF2B5EF4-FFF2-40B4-BE49-F238E27FC236}">
                <a16:creationId xmlns:a16="http://schemas.microsoft.com/office/drawing/2014/main" id="{87D0A6CA-4114-390B-2E8A-C697DB583026}"/>
              </a:ext>
            </a:extLst>
          </p:cNvPr>
          <p:cNvGrpSpPr/>
          <p:nvPr/>
        </p:nvGrpSpPr>
        <p:grpSpPr>
          <a:xfrm>
            <a:off x="1584000" y="2292561"/>
            <a:ext cx="4320001" cy="3689979"/>
            <a:chOff x="11410420" y="2499382"/>
            <a:chExt cx="4320001" cy="3060000"/>
          </a:xfrm>
        </p:grpSpPr>
        <p:sp>
          <p:nvSpPr>
            <p:cNvPr id="27" name="Shape 13">
              <a:extLst>
                <a:ext uri="{FF2B5EF4-FFF2-40B4-BE49-F238E27FC236}">
                  <a16:creationId xmlns:a16="http://schemas.microsoft.com/office/drawing/2014/main" id="{85963D48-B93D-A47D-CCAD-BFDF8B40CCFA}"/>
                </a:ext>
              </a:extLst>
            </p:cNvPr>
            <p:cNvSpPr/>
            <p:nvPr/>
          </p:nvSpPr>
          <p:spPr>
            <a:xfrm>
              <a:off x="11410421" y="2499382"/>
              <a:ext cx="4320000" cy="3060000"/>
            </a:xfrm>
            <a:prstGeom prst="roundRect">
              <a:avLst>
                <a:gd name="adj" fmla="val 7028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  <a:prstDash val="solid"/>
            </a:ln>
            <a:effectLst>
              <a:outerShdw blurRad="28575" dist="9525" dir="5400000" algn="bl" rotWithShape="0">
                <a:srgbClr val="0F172A">
                  <a:alpha val="5000"/>
                </a:srgbClr>
              </a:outerShdw>
            </a:effectLst>
          </p:spPr>
          <p:txBody>
            <a:bodyPr/>
            <a:lstStyle/>
            <a:p>
              <a:endParaRPr lang="tr-TR"/>
            </a:p>
          </p:txBody>
        </p:sp>
        <p:sp>
          <p:nvSpPr>
            <p:cNvPr id="13" name="Text 11"/>
            <p:cNvSpPr/>
            <p:nvPr/>
          </p:nvSpPr>
          <p:spPr>
            <a:xfrm>
              <a:off x="11592011" y="2774269"/>
              <a:ext cx="3949571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0F172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Akademik personel için sorun</a:t>
              </a:r>
              <a:endParaRPr lang="en-US" sz="20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11498580" y="3212454"/>
              <a:ext cx="4152768" cy="22586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tr-T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Rutin İş Yükü:</a:t>
              </a:r>
              <a:r>
                <a:rPr lang="tr-TR" sz="1600" dirty="0">
                  <a:latin typeface="Arial" panose="020B0604020202020204" pitchFamily="34" charset="0"/>
                  <a:cs typeface="Arial" panose="020B0604020202020204" pitchFamily="34" charset="0"/>
                </a:rPr>
                <a:t> Aynı soruların defalarca yanıtlanmasıyla oluşan zaman kaybı.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tr-T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Verimsizlik:</a:t>
              </a:r>
              <a:r>
                <a:rPr lang="tr-TR" sz="1600" dirty="0">
                  <a:latin typeface="Arial" panose="020B0604020202020204" pitchFamily="34" charset="0"/>
                  <a:cs typeface="Arial" panose="020B0604020202020204" pitchFamily="34" charset="0"/>
                </a:rPr>
                <a:t> Rutin bilgilendirme ve danışmanlık süreçlerinde oluşan zaman kaybı.</a:t>
              </a:r>
            </a:p>
          </p:txBody>
        </p:sp>
        <p:sp>
          <p:nvSpPr>
            <p:cNvPr id="25" name="Shape 6">
              <a:extLst>
                <a:ext uri="{FF2B5EF4-FFF2-40B4-BE49-F238E27FC236}">
                  <a16:creationId xmlns:a16="http://schemas.microsoft.com/office/drawing/2014/main" id="{F47F72D0-4747-7B53-56F0-DFCAE5756BAA}"/>
                </a:ext>
              </a:extLst>
            </p:cNvPr>
            <p:cNvSpPr/>
            <p:nvPr/>
          </p:nvSpPr>
          <p:spPr>
            <a:xfrm>
              <a:off x="11410420" y="2500167"/>
              <a:ext cx="4320000" cy="72000"/>
            </a:xfrm>
            <a:prstGeom prst="rect">
              <a:avLst/>
            </a:prstGeom>
            <a:solidFill>
              <a:srgbClr val="7030A0"/>
            </a:solidFill>
            <a:ln/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30" name="Grup 29">
            <a:extLst>
              <a:ext uri="{FF2B5EF4-FFF2-40B4-BE49-F238E27FC236}">
                <a16:creationId xmlns:a16="http://schemas.microsoft.com/office/drawing/2014/main" id="{204763C5-E024-DC4A-E312-C3A1F0A25C6B}"/>
              </a:ext>
            </a:extLst>
          </p:cNvPr>
          <p:cNvGrpSpPr/>
          <p:nvPr/>
        </p:nvGrpSpPr>
        <p:grpSpPr>
          <a:xfrm>
            <a:off x="6984000" y="2292561"/>
            <a:ext cx="4320001" cy="3689979"/>
            <a:chOff x="1369596" y="2488583"/>
            <a:chExt cx="4320001" cy="3060000"/>
          </a:xfrm>
        </p:grpSpPr>
        <p:sp>
          <p:nvSpPr>
            <p:cNvPr id="26" name="Shape 13">
              <a:extLst>
                <a:ext uri="{FF2B5EF4-FFF2-40B4-BE49-F238E27FC236}">
                  <a16:creationId xmlns:a16="http://schemas.microsoft.com/office/drawing/2014/main" id="{B79BA722-F3ED-4F93-4594-F9A3354ED5B5}"/>
                </a:ext>
              </a:extLst>
            </p:cNvPr>
            <p:cNvSpPr/>
            <p:nvPr/>
          </p:nvSpPr>
          <p:spPr>
            <a:xfrm>
              <a:off x="1369597" y="2488583"/>
              <a:ext cx="4320000" cy="3060000"/>
            </a:xfrm>
            <a:prstGeom prst="roundRect">
              <a:avLst>
                <a:gd name="adj" fmla="val 7028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  <a:prstDash val="solid"/>
            </a:ln>
            <a:effectLst>
              <a:outerShdw blurRad="28575" dist="9525" dir="5400000" algn="bl" rotWithShape="0">
                <a:srgbClr val="0F172A">
                  <a:alpha val="5000"/>
                </a:srgbClr>
              </a:outerShdw>
            </a:effectLst>
          </p:spPr>
          <p:txBody>
            <a:bodyPr/>
            <a:lstStyle/>
            <a:p>
              <a:endParaRPr lang="tr-TR"/>
            </a:p>
          </p:txBody>
        </p:sp>
        <p:sp>
          <p:nvSpPr>
            <p:cNvPr id="9" name="Text 7"/>
            <p:cNvSpPr/>
            <p:nvPr/>
          </p:nvSpPr>
          <p:spPr>
            <a:xfrm>
              <a:off x="1450925" y="2747434"/>
              <a:ext cx="4178880" cy="39657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0F172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Öğrenciler için sorun</a:t>
              </a:r>
              <a:endParaRPr lang="en-US" sz="20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450926" y="3106788"/>
              <a:ext cx="4178879" cy="227508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tr-T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Erişim Engeli:</a:t>
              </a:r>
              <a:r>
                <a:rPr lang="tr-TR" sz="1600" dirty="0">
                  <a:latin typeface="Arial" panose="020B0604020202020204" pitchFamily="34" charset="0"/>
                  <a:cs typeface="Arial" panose="020B0604020202020204" pitchFamily="34" charset="0"/>
                </a:rPr>
                <a:t> Bilgiye ulaşmada resmi kanal zorunluluğu ve 7/24 destek olmaması.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tr-T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Zaman Kaybı:</a:t>
              </a:r>
              <a:r>
                <a:rPr lang="tr-TR" sz="1600" dirty="0">
                  <a:latin typeface="Arial" panose="020B0604020202020204" pitchFamily="34" charset="0"/>
                  <a:cs typeface="Arial" panose="020B0604020202020204" pitchFamily="34" charset="0"/>
                </a:rPr>
                <a:t> Rutin sorulara cevap alma süreçlerinin uzun sürmesi.</a:t>
              </a:r>
            </a:p>
          </p:txBody>
        </p:sp>
        <p:sp>
          <p:nvSpPr>
            <p:cNvPr id="8" name="Shape 6"/>
            <p:cNvSpPr/>
            <p:nvPr/>
          </p:nvSpPr>
          <p:spPr>
            <a:xfrm>
              <a:off x="1369596" y="2499382"/>
              <a:ext cx="4320000" cy="72000"/>
            </a:xfrm>
            <a:prstGeom prst="rect">
              <a:avLst/>
            </a:prstGeom>
            <a:solidFill>
              <a:srgbClr val="2563EB"/>
            </a:solidFill>
            <a:ln/>
          </p:spPr>
          <p:txBody>
            <a:bodyPr/>
            <a:lstStyle/>
            <a:p>
              <a:endParaRPr lang="tr-TR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52500" y="914400"/>
            <a:ext cx="405705" cy="257175"/>
          </a:xfrm>
          <a:prstGeom prst="roundRect">
            <a:avLst>
              <a:gd name="adj" fmla="val 18519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1047750" y="942975"/>
            <a:ext cx="29140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0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72505" y="938213"/>
            <a:ext cx="17278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02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SISTEM MIMARISI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952500" y="1323975"/>
            <a:ext cx="16874490" cy="614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Mimariye </a:t>
            </a:r>
            <a:r>
              <a:rPr lang="en-US" sz="4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genel bakış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52500" y="2014240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Doğal dil sorusu önce sınıflandırılır, ilgili kanala yönlendirilir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" y="5345311"/>
            <a:ext cx="1815554" cy="1010543"/>
          </a:xfrm>
          <a:prstGeom prst="roundRect">
            <a:avLst>
              <a:gd name="adj" fmla="val 13196"/>
            </a:avLst>
          </a:prstGeom>
          <a:solidFill>
            <a:srgbClr val="EFF6FF"/>
          </a:solidFill>
          <a:ln w="19050">
            <a:solidFill>
              <a:srgbClr val="93C5FD"/>
            </a:solidFill>
            <a:prstDash val="solid"/>
          </a:ln>
          <a:effectLst>
            <a:outerShdw blurRad="28575" dist="9525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1200150" y="5554861"/>
            <a:ext cx="1320254" cy="62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725" b="1" dirty="0" err="1">
                <a:solidFill>
                  <a:srgbClr val="2563EB"/>
                </a:solidFill>
                <a:highlight>
                  <a:srgbClr val="EFF6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Kullanıcı</a:t>
            </a:r>
            <a:r>
              <a:rPr lang="en-US" sz="1725" b="1" dirty="0">
                <a:solidFill>
                  <a:srgbClr val="2563EB"/>
                </a:solidFill>
                <a:highlight>
                  <a:srgbClr val="EFF6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Doğal dil sorgu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2825204" y="5688657"/>
            <a:ext cx="3619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3168104" y="5158829"/>
            <a:ext cx="2286000" cy="1383506"/>
          </a:xfrm>
          <a:prstGeom prst="roundRect">
            <a:avLst>
              <a:gd name="adj" fmla="val 9639"/>
            </a:avLst>
          </a:prstGeom>
          <a:solidFill>
            <a:srgbClr val="7C3AED"/>
          </a:solidFill>
          <a:ln w="19050">
            <a:solidFill>
              <a:srgbClr val="6D28D9"/>
            </a:solidFill>
            <a:prstDash val="solid"/>
          </a:ln>
          <a:effectLst>
            <a:outerShdw blurRad="28575" dist="9525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3415754" y="5368379"/>
            <a:ext cx="1790700" cy="1002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tr-TR" sz="1875" b="1" dirty="0">
                <a:solidFill>
                  <a:srgbClr val="FFFFFF"/>
                </a:solidFill>
                <a:highlight>
                  <a:srgbClr val="7C3AED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Niyet</a:t>
            </a:r>
            <a:r>
              <a:rPr lang="en-US" sz="1875" b="1" dirty="0">
                <a:solidFill>
                  <a:srgbClr val="FFFFFF"/>
                </a:solidFill>
                <a:highlight>
                  <a:srgbClr val="7C3AED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Sınıflandırıcı 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+ LLM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5511254" y="5688657"/>
            <a:ext cx="3619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5854154" y="4474220"/>
            <a:ext cx="9462046" cy="466725"/>
          </a:xfrm>
          <a:prstGeom prst="roundRect">
            <a:avLst>
              <a:gd name="adj" fmla="val 16327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5854153" y="4482862"/>
            <a:ext cx="52689" cy="458083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tr-TR" sz="1600"/>
          </a:p>
        </p:txBody>
      </p:sp>
      <p:sp>
        <p:nvSpPr>
          <p:cNvPr id="16" name="Text 14"/>
          <p:cNvSpPr/>
          <p:nvPr/>
        </p:nvSpPr>
        <p:spPr>
          <a:xfrm>
            <a:off x="6082753" y="4607393"/>
            <a:ext cx="1817763" cy="243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DB_QUERY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54354" y="4602807"/>
            <a:ext cx="310246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Veritabanı → Text-to-SQL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54154" y="5045720"/>
            <a:ext cx="9462046" cy="466725"/>
          </a:xfrm>
          <a:prstGeom prst="roundRect">
            <a:avLst>
              <a:gd name="adj" fmla="val 16327"/>
            </a:avLst>
          </a:prstGeom>
          <a:solidFill>
            <a:srgbClr val="F5F3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5854153" y="5054362"/>
            <a:ext cx="52689" cy="458083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tr-TR" sz="2000"/>
          </a:p>
        </p:txBody>
      </p:sp>
      <p:sp>
        <p:nvSpPr>
          <p:cNvPr id="20" name="Text 18"/>
          <p:cNvSpPr/>
          <p:nvPr/>
        </p:nvSpPr>
        <p:spPr>
          <a:xfrm>
            <a:off x="6082753" y="5178893"/>
            <a:ext cx="1817763" cy="243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54354" y="5174307"/>
            <a:ext cx="341427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Belge → ChromaDB → LLM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854154" y="5617220"/>
            <a:ext cx="9462046" cy="466725"/>
          </a:xfrm>
          <a:prstGeom prst="roundRect">
            <a:avLst>
              <a:gd name="adj" fmla="val 16327"/>
            </a:avLst>
          </a:prstGeom>
          <a:solidFill>
            <a:srgbClr val="ECFE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5854153" y="5625862"/>
            <a:ext cx="52689" cy="458083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tr-TR" sz="2000"/>
          </a:p>
        </p:txBody>
      </p:sp>
      <p:sp>
        <p:nvSpPr>
          <p:cNvPr id="24" name="Text 22"/>
          <p:cNvSpPr/>
          <p:nvPr/>
        </p:nvSpPr>
        <p:spPr>
          <a:xfrm>
            <a:off x="6082753" y="5750393"/>
            <a:ext cx="1817763" cy="243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WEB_SEARCH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54354" y="5745807"/>
            <a:ext cx="315083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DuckDuckGo → LLM özet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854154" y="6188720"/>
            <a:ext cx="9462046" cy="466725"/>
          </a:xfrm>
          <a:prstGeom prst="roundRect">
            <a:avLst>
              <a:gd name="adj" fmla="val 16327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5854153" y="6197362"/>
            <a:ext cx="52689" cy="458083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tr-TR" sz="2000"/>
          </a:p>
        </p:txBody>
      </p:sp>
      <p:sp>
        <p:nvSpPr>
          <p:cNvPr id="28" name="Text 26"/>
          <p:cNvSpPr/>
          <p:nvPr/>
        </p:nvSpPr>
        <p:spPr>
          <a:xfrm>
            <a:off x="6082753" y="6321893"/>
            <a:ext cx="1817763" cy="243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54354" y="6317307"/>
            <a:ext cx="1994558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durumu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854154" y="6760220"/>
            <a:ext cx="9462046" cy="466725"/>
          </a:xfrm>
          <a:prstGeom prst="roundRect">
            <a:avLst>
              <a:gd name="adj" fmla="val 16327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5854153" y="6768862"/>
            <a:ext cx="52689" cy="45808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tr-TR" sz="2000"/>
          </a:p>
        </p:txBody>
      </p:sp>
      <p:sp>
        <p:nvSpPr>
          <p:cNvPr id="32" name="Text 30"/>
          <p:cNvSpPr/>
          <p:nvPr/>
        </p:nvSpPr>
        <p:spPr>
          <a:xfrm>
            <a:off x="6082753" y="6893393"/>
            <a:ext cx="1817763" cy="243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GENERAL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454354" y="6888807"/>
            <a:ext cx="2184937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5 tur bağlamı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5373350" y="5688657"/>
            <a:ext cx="3619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35" name="Shape 33"/>
          <p:cNvSpPr/>
          <p:nvPr/>
        </p:nvSpPr>
        <p:spPr>
          <a:xfrm>
            <a:off x="15716250" y="5345311"/>
            <a:ext cx="1619250" cy="1010543"/>
          </a:xfrm>
          <a:prstGeom prst="roundRect">
            <a:avLst>
              <a:gd name="adj" fmla="val 13196"/>
            </a:avLst>
          </a:prstGeom>
          <a:solidFill>
            <a:srgbClr val="EFF6FF"/>
          </a:solidFill>
          <a:ln w="19050">
            <a:solidFill>
              <a:srgbClr val="93C5FD"/>
            </a:solidFill>
            <a:prstDash val="solid"/>
          </a:ln>
          <a:effectLst>
            <a:outerShdw blurRad="28575" dist="9525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tr-TR" sz="1600"/>
          </a:p>
        </p:txBody>
      </p:sp>
      <p:sp>
        <p:nvSpPr>
          <p:cNvPr id="36" name="Text 34"/>
          <p:cNvSpPr/>
          <p:nvPr/>
        </p:nvSpPr>
        <p:spPr>
          <a:xfrm>
            <a:off x="15963900" y="5535810"/>
            <a:ext cx="1123950" cy="62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600" b="1" dirty="0" err="1">
                <a:solidFill>
                  <a:srgbClr val="2563EB"/>
                </a:solidFill>
                <a:highlight>
                  <a:srgbClr val="EFF6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Yanıt</a:t>
            </a:r>
            <a:r>
              <a:rPr lang="en-US" sz="1600" b="1" dirty="0">
                <a:solidFill>
                  <a:srgbClr val="2563EB"/>
                </a:solidFill>
                <a:highlight>
                  <a:srgbClr val="EFF6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Kullanıcıya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52500" y="9248775"/>
            <a:ext cx="800100" cy="352425"/>
          </a:xfrm>
          <a:prstGeom prst="roundRect">
            <a:avLst>
              <a:gd name="adj" fmla="val 18919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1095375" y="9315450"/>
            <a:ext cx="5905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Flask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1885950" y="9248775"/>
            <a:ext cx="2343150" cy="352425"/>
          </a:xfrm>
          <a:prstGeom prst="roundRect">
            <a:avLst>
              <a:gd name="adj" fmla="val 18919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2028825" y="9315450"/>
            <a:ext cx="21336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GPT-4o-mini / Gemini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4362450" y="9248775"/>
            <a:ext cx="903089" cy="352425"/>
          </a:xfrm>
          <a:prstGeom prst="roundRect">
            <a:avLst>
              <a:gd name="adj" fmla="val 18919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Text 40"/>
          <p:cNvSpPr/>
          <p:nvPr/>
        </p:nvSpPr>
        <p:spPr>
          <a:xfrm>
            <a:off x="4505325" y="9315450"/>
            <a:ext cx="69353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398889" y="9248775"/>
            <a:ext cx="1108770" cy="352425"/>
          </a:xfrm>
          <a:prstGeom prst="roundRect">
            <a:avLst>
              <a:gd name="adj" fmla="val 18919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Text 42"/>
          <p:cNvSpPr/>
          <p:nvPr/>
        </p:nvSpPr>
        <p:spPr>
          <a:xfrm>
            <a:off x="5541764" y="9315450"/>
            <a:ext cx="8992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ChromaDB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6641009" y="9248775"/>
            <a:ext cx="1417439" cy="352425"/>
          </a:xfrm>
          <a:prstGeom prst="roundRect">
            <a:avLst>
              <a:gd name="adj" fmla="val 18919"/>
            </a:avLst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Text 44"/>
          <p:cNvSpPr/>
          <p:nvPr/>
        </p:nvSpPr>
        <p:spPr>
          <a:xfrm>
            <a:off x="6783884" y="9315450"/>
            <a:ext cx="12078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HuggingFace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52500" y="914400"/>
            <a:ext cx="407938" cy="257175"/>
          </a:xfrm>
          <a:prstGeom prst="roundRect">
            <a:avLst>
              <a:gd name="adj" fmla="val 18519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1047750" y="942975"/>
            <a:ext cx="29363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0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74738" y="938213"/>
            <a:ext cx="238854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02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 SINIFLANDIRICI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952500" y="1323975"/>
            <a:ext cx="16874490" cy="614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İki aşamalı </a:t>
            </a:r>
            <a:r>
              <a:rPr lang="en-US" sz="4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sınıflandırma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52500" y="2014240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Önce hızlı keyword eşleştirme, başarısız olursa LLM devreye girer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" y="2700040"/>
            <a:ext cx="3139380" cy="981075"/>
          </a:xfrm>
          <a:prstGeom prst="roundRect">
            <a:avLst>
              <a:gd name="adj" fmla="val 1553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8575" dist="9525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tr-TR" sz="1600"/>
          </a:p>
        </p:txBody>
      </p:sp>
      <p:sp>
        <p:nvSpPr>
          <p:cNvPr id="9" name="Shape 7"/>
          <p:cNvSpPr/>
          <p:nvPr/>
        </p:nvSpPr>
        <p:spPr>
          <a:xfrm>
            <a:off x="962025" y="2709565"/>
            <a:ext cx="3120330" cy="571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tr-TR" sz="1600"/>
          </a:p>
        </p:txBody>
      </p:sp>
      <p:sp>
        <p:nvSpPr>
          <p:cNvPr id="10" name="Text 8"/>
          <p:cNvSpPr/>
          <p:nvPr/>
        </p:nvSpPr>
        <p:spPr>
          <a:xfrm>
            <a:off x="1091814" y="2976265"/>
            <a:ext cx="286075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DB_QUERY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1814" y="3262015"/>
            <a:ext cx="286075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Veritabanı sorguları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63330" y="2700040"/>
            <a:ext cx="3139380" cy="981075"/>
          </a:xfrm>
          <a:prstGeom prst="roundRect">
            <a:avLst>
              <a:gd name="adj" fmla="val 1553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8575" dist="9525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tr-TR" sz="1600"/>
          </a:p>
        </p:txBody>
      </p:sp>
      <p:sp>
        <p:nvSpPr>
          <p:cNvPr id="13" name="Shape 11"/>
          <p:cNvSpPr/>
          <p:nvPr/>
        </p:nvSpPr>
        <p:spPr>
          <a:xfrm>
            <a:off x="4272855" y="2709565"/>
            <a:ext cx="3120330" cy="5715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tr-TR" sz="1600"/>
          </a:p>
        </p:txBody>
      </p:sp>
      <p:sp>
        <p:nvSpPr>
          <p:cNvPr id="14" name="Text 12"/>
          <p:cNvSpPr/>
          <p:nvPr/>
        </p:nvSpPr>
        <p:spPr>
          <a:xfrm>
            <a:off x="4402644" y="2976265"/>
            <a:ext cx="286075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02644" y="3262015"/>
            <a:ext cx="286075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Belge tabanlı soru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574161" y="2700040"/>
            <a:ext cx="3139529" cy="981075"/>
          </a:xfrm>
          <a:prstGeom prst="roundRect">
            <a:avLst>
              <a:gd name="adj" fmla="val 1553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8575" dist="9525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tr-TR" sz="1600"/>
          </a:p>
        </p:txBody>
      </p:sp>
      <p:sp>
        <p:nvSpPr>
          <p:cNvPr id="17" name="Shape 15"/>
          <p:cNvSpPr/>
          <p:nvPr/>
        </p:nvSpPr>
        <p:spPr>
          <a:xfrm>
            <a:off x="7583686" y="2709565"/>
            <a:ext cx="3120479" cy="5715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tr-TR" sz="1600"/>
          </a:p>
        </p:txBody>
      </p:sp>
      <p:sp>
        <p:nvSpPr>
          <p:cNvPr id="18" name="Text 16"/>
          <p:cNvSpPr/>
          <p:nvPr/>
        </p:nvSpPr>
        <p:spPr>
          <a:xfrm>
            <a:off x="7713472" y="2976265"/>
            <a:ext cx="286090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WEB_SEARCH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13472" y="3262015"/>
            <a:ext cx="286090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Güncel bilgi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885140" y="2700040"/>
            <a:ext cx="3139380" cy="981075"/>
          </a:xfrm>
          <a:prstGeom prst="roundRect">
            <a:avLst>
              <a:gd name="adj" fmla="val 1553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8575" dist="9525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tr-TR" sz="1600"/>
          </a:p>
        </p:txBody>
      </p:sp>
      <p:sp>
        <p:nvSpPr>
          <p:cNvPr id="21" name="Shape 19"/>
          <p:cNvSpPr/>
          <p:nvPr/>
        </p:nvSpPr>
        <p:spPr>
          <a:xfrm>
            <a:off x="10894665" y="2709565"/>
            <a:ext cx="3120330" cy="5715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tr-TR" sz="1600"/>
          </a:p>
        </p:txBody>
      </p:sp>
      <p:sp>
        <p:nvSpPr>
          <p:cNvPr id="22" name="Text 20"/>
          <p:cNvSpPr/>
          <p:nvPr/>
        </p:nvSpPr>
        <p:spPr>
          <a:xfrm>
            <a:off x="11024454" y="2976265"/>
            <a:ext cx="286075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024454" y="3262015"/>
            <a:ext cx="286075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durumu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4195971" y="2700040"/>
            <a:ext cx="3139529" cy="981075"/>
          </a:xfrm>
          <a:prstGeom prst="roundRect">
            <a:avLst>
              <a:gd name="adj" fmla="val 1553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8575" dist="9525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tr-TR" sz="1600"/>
          </a:p>
        </p:txBody>
      </p:sp>
      <p:sp>
        <p:nvSpPr>
          <p:cNvPr id="25" name="Shape 23"/>
          <p:cNvSpPr/>
          <p:nvPr/>
        </p:nvSpPr>
        <p:spPr>
          <a:xfrm>
            <a:off x="14205496" y="2709565"/>
            <a:ext cx="3120479" cy="5715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tr-TR" sz="1600"/>
          </a:p>
        </p:txBody>
      </p:sp>
      <p:sp>
        <p:nvSpPr>
          <p:cNvPr id="26" name="Text 24"/>
          <p:cNvSpPr/>
          <p:nvPr/>
        </p:nvSpPr>
        <p:spPr>
          <a:xfrm>
            <a:off x="14335282" y="2976265"/>
            <a:ext cx="286090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335282" y="3262015"/>
            <a:ext cx="286090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Genel sohbet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52500" y="3985915"/>
            <a:ext cx="8058150" cy="1594842"/>
          </a:xfrm>
          <a:prstGeom prst="roundRect">
            <a:avLst>
              <a:gd name="adj" fmla="val 95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8575" dist="9525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tr-TR" sz="2000"/>
          </a:p>
        </p:txBody>
      </p:sp>
      <p:sp>
        <p:nvSpPr>
          <p:cNvPr id="29" name="Shape 27"/>
          <p:cNvSpPr/>
          <p:nvPr/>
        </p:nvSpPr>
        <p:spPr>
          <a:xfrm>
            <a:off x="1285875" y="428119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tr-TR" sz="2000"/>
          </a:p>
        </p:txBody>
      </p:sp>
      <p:sp>
        <p:nvSpPr>
          <p:cNvPr id="30" name="Text 28"/>
          <p:cNvSpPr/>
          <p:nvPr/>
        </p:nvSpPr>
        <p:spPr>
          <a:xfrm>
            <a:off x="1247775" y="428119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914525" y="4281190"/>
            <a:ext cx="696563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Eşleştirme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914525" y="4662190"/>
            <a:ext cx="6965633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kanal için tanımlı anahtar kelimeler. API masrafı yok, </a:t>
            </a:r>
            <a:r>
              <a:rPr lang="en-US" sz="160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anlık</a:t>
            </a: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çalışır</a:t>
            </a:r>
            <a:r>
              <a:rPr lang="tr-TR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eşleşme</a:t>
            </a: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varsa LLM'e gidilmez.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277350" y="3985915"/>
            <a:ext cx="8058150" cy="1594842"/>
          </a:xfrm>
          <a:prstGeom prst="roundRect">
            <a:avLst>
              <a:gd name="adj" fmla="val 9556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tr-TR" sz="2000"/>
          </a:p>
        </p:txBody>
      </p:sp>
      <p:sp>
        <p:nvSpPr>
          <p:cNvPr id="37" name="Shape 35"/>
          <p:cNvSpPr/>
          <p:nvPr/>
        </p:nvSpPr>
        <p:spPr>
          <a:xfrm>
            <a:off x="17325975" y="3985915"/>
            <a:ext cx="9525" cy="159484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tr-TR" sz="2000"/>
          </a:p>
        </p:txBody>
      </p:sp>
      <p:sp>
        <p:nvSpPr>
          <p:cNvPr id="38" name="Shape 36"/>
          <p:cNvSpPr/>
          <p:nvPr/>
        </p:nvSpPr>
        <p:spPr>
          <a:xfrm>
            <a:off x="9648825" y="428119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tr-TR" sz="2000"/>
          </a:p>
        </p:txBody>
      </p:sp>
      <p:sp>
        <p:nvSpPr>
          <p:cNvPr id="39" name="Text 37"/>
          <p:cNvSpPr/>
          <p:nvPr/>
        </p:nvSpPr>
        <p:spPr>
          <a:xfrm>
            <a:off x="9610725" y="428119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277475" y="4281190"/>
            <a:ext cx="532616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Sınıflandırma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10277475" y="4662190"/>
            <a:ext cx="6724650" cy="661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</a:t>
            </a:r>
            <a:r>
              <a:rPr lang="en-US" sz="160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başarı</a:t>
            </a:r>
            <a:r>
              <a:rPr lang="tr-TR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sız olursa</a:t>
            </a: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tr-TR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kullanılan LLM modeli</a:t>
            </a: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devreye girer. </a:t>
            </a:r>
            <a:r>
              <a:rPr lang="en-US" sz="16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"3. sınıf öğrencilerinin ortalaması?" </a:t>
            </a: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1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DB_QUERY</a:t>
            </a:r>
            <a:endParaRPr lang="en-US" sz="1600" dirty="0"/>
          </a:p>
        </p:txBody>
      </p:sp>
      <p:pic>
        <p:nvPicPr>
          <p:cNvPr id="44" name="Resim 43">
            <a:extLst>
              <a:ext uri="{FF2B5EF4-FFF2-40B4-BE49-F238E27FC236}">
                <a16:creationId xmlns:a16="http://schemas.microsoft.com/office/drawing/2014/main" id="{A06D375B-EA60-B04E-EA66-B1C3F7E31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52328" y="5618857"/>
            <a:ext cx="8916644" cy="44678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52500" y="914400"/>
            <a:ext cx="412105" cy="257175"/>
          </a:xfrm>
          <a:prstGeom prst="roundRect">
            <a:avLst>
              <a:gd name="adj" fmla="val 18519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1047750" y="942975"/>
            <a:ext cx="29780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0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78905" y="938213"/>
            <a:ext cx="24986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02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TEXT-TO-SQL · DB_QUERY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952500" y="1323975"/>
            <a:ext cx="16874490" cy="614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Doğal dilden </a:t>
            </a:r>
            <a:r>
              <a:rPr lang="en-US" sz="4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</a:t>
            </a:r>
            <a:r>
              <a:rPr lang="en-US" sz="4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sorgusuna</a:t>
            </a:r>
            <a:endParaRPr lang="en-US" sz="4200" dirty="0"/>
          </a:p>
        </p:txBody>
      </p:sp>
      <p:grpSp>
        <p:nvGrpSpPr>
          <p:cNvPr id="87" name="Grup 86">
            <a:extLst>
              <a:ext uri="{FF2B5EF4-FFF2-40B4-BE49-F238E27FC236}">
                <a16:creationId xmlns:a16="http://schemas.microsoft.com/office/drawing/2014/main" id="{707A0E3A-54E3-CB44-3704-13053CE71351}"/>
              </a:ext>
            </a:extLst>
          </p:cNvPr>
          <p:cNvGrpSpPr/>
          <p:nvPr/>
        </p:nvGrpSpPr>
        <p:grpSpPr>
          <a:xfrm>
            <a:off x="914400" y="2319040"/>
            <a:ext cx="4094033" cy="581025"/>
            <a:chOff x="914400" y="2319040"/>
            <a:chExt cx="4094033" cy="581025"/>
          </a:xfrm>
        </p:grpSpPr>
        <p:sp>
          <p:nvSpPr>
            <p:cNvPr id="7" name="Shape 5"/>
            <p:cNvSpPr/>
            <p:nvPr/>
          </p:nvSpPr>
          <p:spPr>
            <a:xfrm>
              <a:off x="952500" y="2319040"/>
              <a:ext cx="438150" cy="438150"/>
            </a:xfrm>
            <a:prstGeom prst="roundRect">
              <a:avLst>
                <a:gd name="adj" fmla="val 26087"/>
              </a:avLst>
            </a:prstGeom>
            <a:solidFill>
              <a:srgbClr val="2563EB"/>
            </a:solidFill>
            <a:ln/>
          </p:spPr>
          <p:txBody>
            <a:bodyPr/>
            <a:lstStyle/>
            <a:p>
              <a:endParaRPr lang="tr-TR"/>
            </a:p>
          </p:txBody>
        </p:sp>
        <p:sp>
          <p:nvSpPr>
            <p:cNvPr id="8" name="Text 6"/>
            <p:cNvSpPr/>
            <p:nvPr/>
          </p:nvSpPr>
          <p:spPr>
            <a:xfrm>
              <a:off x="914400" y="2319040"/>
              <a:ext cx="514350" cy="4762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15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1562100" y="2319040"/>
              <a:ext cx="3446333" cy="3238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725" b="1" dirty="0">
                  <a:solidFill>
                    <a:srgbClr val="0F172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Doğal dil girişi</a:t>
              </a:r>
              <a:endParaRPr lang="en-US" sz="1725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562100" y="2642890"/>
              <a:ext cx="3446333" cy="2571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5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Kullanıcı sorusu ham metin olarak alınır</a:t>
              </a:r>
              <a:endParaRPr lang="en-US" sz="1500" dirty="0"/>
            </a:p>
          </p:txBody>
        </p:sp>
      </p:grpSp>
      <p:grpSp>
        <p:nvGrpSpPr>
          <p:cNvPr id="86" name="Grup 85">
            <a:extLst>
              <a:ext uri="{FF2B5EF4-FFF2-40B4-BE49-F238E27FC236}">
                <a16:creationId xmlns:a16="http://schemas.microsoft.com/office/drawing/2014/main" id="{E6BA5B55-46BD-256C-E3A6-B43685CD5116}"/>
              </a:ext>
            </a:extLst>
          </p:cNvPr>
          <p:cNvGrpSpPr/>
          <p:nvPr/>
        </p:nvGrpSpPr>
        <p:grpSpPr>
          <a:xfrm>
            <a:off x="886120" y="3555008"/>
            <a:ext cx="5844332" cy="581025"/>
            <a:chOff x="886120" y="3369469"/>
            <a:chExt cx="5844332" cy="581025"/>
          </a:xfrm>
        </p:grpSpPr>
        <p:sp>
          <p:nvSpPr>
            <p:cNvPr id="11" name="Shape 9"/>
            <p:cNvSpPr/>
            <p:nvPr/>
          </p:nvSpPr>
          <p:spPr>
            <a:xfrm>
              <a:off x="924220" y="3369469"/>
              <a:ext cx="438150" cy="438150"/>
            </a:xfrm>
            <a:prstGeom prst="roundRect">
              <a:avLst>
                <a:gd name="adj" fmla="val 26087"/>
              </a:avLst>
            </a:prstGeom>
            <a:solidFill>
              <a:srgbClr val="2563EB"/>
            </a:solidFill>
            <a:ln/>
          </p:spPr>
          <p:txBody>
            <a:bodyPr/>
            <a:lstStyle/>
            <a:p>
              <a:endParaRPr lang="tr-TR"/>
            </a:p>
          </p:txBody>
        </p:sp>
        <p:sp>
          <p:nvSpPr>
            <p:cNvPr id="12" name="Text 10"/>
            <p:cNvSpPr/>
            <p:nvPr/>
          </p:nvSpPr>
          <p:spPr>
            <a:xfrm>
              <a:off x="886120" y="3369469"/>
              <a:ext cx="514350" cy="4762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</a:t>
              </a:r>
              <a:endParaRPr lang="en-US" sz="15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1533820" y="3369469"/>
              <a:ext cx="5196632" cy="3238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725" b="1" dirty="0">
                  <a:solidFill>
                    <a:srgbClr val="0F172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Few-shot seçimi</a:t>
              </a:r>
              <a:endParaRPr lang="en-US" sz="1725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1533820" y="3693319"/>
              <a:ext cx="5196632" cy="2571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5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r>
                <a:rPr lang="tr-TR" sz="15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r>
                <a:rPr lang="en-US" sz="15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örnek sorgudan semantik benzerlikle en uygun 3'ü seçilir</a:t>
              </a:r>
              <a:endParaRPr lang="en-US" sz="1500" dirty="0"/>
            </a:p>
          </p:txBody>
        </p:sp>
      </p:grpSp>
      <p:grpSp>
        <p:nvGrpSpPr>
          <p:cNvPr id="85" name="Grup 84">
            <a:extLst>
              <a:ext uri="{FF2B5EF4-FFF2-40B4-BE49-F238E27FC236}">
                <a16:creationId xmlns:a16="http://schemas.microsoft.com/office/drawing/2014/main" id="{D2774C1E-D96A-3BEC-246E-65CFE867BD53}"/>
              </a:ext>
            </a:extLst>
          </p:cNvPr>
          <p:cNvGrpSpPr/>
          <p:nvPr/>
        </p:nvGrpSpPr>
        <p:grpSpPr>
          <a:xfrm>
            <a:off x="914400" y="4790976"/>
            <a:ext cx="4666275" cy="581025"/>
            <a:chOff x="914400" y="4459784"/>
            <a:chExt cx="4666275" cy="581025"/>
          </a:xfrm>
        </p:grpSpPr>
        <p:sp>
          <p:nvSpPr>
            <p:cNvPr id="15" name="Shape 13"/>
            <p:cNvSpPr/>
            <p:nvPr/>
          </p:nvSpPr>
          <p:spPr>
            <a:xfrm>
              <a:off x="952500" y="4459784"/>
              <a:ext cx="438150" cy="438150"/>
            </a:xfrm>
            <a:prstGeom prst="roundRect">
              <a:avLst>
                <a:gd name="adj" fmla="val 26087"/>
              </a:avLst>
            </a:prstGeom>
            <a:solidFill>
              <a:srgbClr val="2563EB"/>
            </a:solidFill>
            <a:ln/>
          </p:spPr>
          <p:txBody>
            <a:bodyPr/>
            <a:lstStyle/>
            <a:p>
              <a:endParaRPr lang="tr-TR"/>
            </a:p>
          </p:txBody>
        </p:sp>
        <p:sp>
          <p:nvSpPr>
            <p:cNvPr id="16" name="Text 14"/>
            <p:cNvSpPr/>
            <p:nvPr/>
          </p:nvSpPr>
          <p:spPr>
            <a:xfrm>
              <a:off x="914400" y="4459784"/>
              <a:ext cx="514350" cy="4762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</a:t>
              </a:r>
              <a:endParaRPr lang="en-US" sz="15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1562100" y="4459784"/>
              <a:ext cx="4018575" cy="3238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725" b="1" dirty="0">
                  <a:solidFill>
                    <a:srgbClr val="0F172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LLM SQL üretir</a:t>
              </a:r>
              <a:endParaRPr lang="en-US" sz="1725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1562100" y="4783634"/>
              <a:ext cx="4018575" cy="2571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5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Şema + örneklerle GPT/Gemini sorguyu yazar</a:t>
              </a:r>
              <a:endParaRPr lang="en-US" sz="1500" dirty="0"/>
            </a:p>
          </p:txBody>
        </p:sp>
      </p:grpSp>
      <p:grpSp>
        <p:nvGrpSpPr>
          <p:cNvPr id="84" name="Grup 83">
            <a:extLst>
              <a:ext uri="{FF2B5EF4-FFF2-40B4-BE49-F238E27FC236}">
                <a16:creationId xmlns:a16="http://schemas.microsoft.com/office/drawing/2014/main" id="{9E4864D9-29C4-7F75-4B09-B2F2C5D852C9}"/>
              </a:ext>
            </a:extLst>
          </p:cNvPr>
          <p:cNvGrpSpPr/>
          <p:nvPr/>
        </p:nvGrpSpPr>
        <p:grpSpPr>
          <a:xfrm>
            <a:off x="926735" y="6026944"/>
            <a:ext cx="6231396" cy="581025"/>
            <a:chOff x="914400" y="5612648"/>
            <a:chExt cx="6231396" cy="581025"/>
          </a:xfrm>
        </p:grpSpPr>
        <p:sp>
          <p:nvSpPr>
            <p:cNvPr id="19" name="Shape 17"/>
            <p:cNvSpPr/>
            <p:nvPr/>
          </p:nvSpPr>
          <p:spPr>
            <a:xfrm>
              <a:off x="952500" y="5612648"/>
              <a:ext cx="438150" cy="438150"/>
            </a:xfrm>
            <a:prstGeom prst="roundRect">
              <a:avLst>
                <a:gd name="adj" fmla="val 26087"/>
              </a:avLst>
            </a:prstGeom>
            <a:solidFill>
              <a:srgbClr val="059669"/>
            </a:solidFill>
            <a:ln/>
          </p:spPr>
          <p:txBody>
            <a:bodyPr/>
            <a:lstStyle/>
            <a:p>
              <a:endParaRPr lang="tr-TR"/>
            </a:p>
          </p:txBody>
        </p:sp>
        <p:sp>
          <p:nvSpPr>
            <p:cNvPr id="20" name="Text 18"/>
            <p:cNvSpPr/>
            <p:nvPr/>
          </p:nvSpPr>
          <p:spPr>
            <a:xfrm>
              <a:off x="914400" y="5612648"/>
              <a:ext cx="514350" cy="4762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</a:t>
              </a:r>
              <a:endParaRPr lang="en-US" sz="15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1562100" y="5612648"/>
              <a:ext cx="5583696" cy="3238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725" b="1" dirty="0">
                  <a:solidFill>
                    <a:srgbClr val="0F172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Self-correction</a:t>
              </a:r>
              <a:endParaRPr lang="en-US" sz="1725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1562100" y="5936498"/>
              <a:ext cx="5583696" cy="2571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5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Hatalı SQL, hata mesajıyla tekrar gönderilir ve otomatik düzeltilir</a:t>
              </a:r>
              <a:endParaRPr lang="en-US" sz="1500" dirty="0"/>
            </a:p>
          </p:txBody>
        </p:sp>
      </p:grpSp>
      <p:sp>
        <p:nvSpPr>
          <p:cNvPr id="23" name="Shape 21"/>
          <p:cNvSpPr/>
          <p:nvPr/>
        </p:nvSpPr>
        <p:spPr>
          <a:xfrm>
            <a:off x="9353550" y="2319040"/>
            <a:ext cx="7981950" cy="7282160"/>
          </a:xfrm>
          <a:prstGeom prst="roundRect">
            <a:avLst>
              <a:gd name="adj" fmla="val 1831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9353550" y="9591675"/>
            <a:ext cx="798195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9353550" y="2319040"/>
            <a:ext cx="798195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9353550" y="2319040"/>
            <a:ext cx="47625" cy="72821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17325975" y="2319040"/>
            <a:ext cx="9525" cy="728216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9705975" y="2595265"/>
            <a:ext cx="7534656" cy="378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57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Üretilen SQL örneği</a:t>
            </a:r>
            <a:endParaRPr lang="en-US" sz="1575" dirty="0"/>
          </a:p>
        </p:txBody>
      </p:sp>
      <p:sp>
        <p:nvSpPr>
          <p:cNvPr id="29" name="Text 27"/>
          <p:cNvSpPr/>
          <p:nvPr/>
        </p:nvSpPr>
        <p:spPr>
          <a:xfrm>
            <a:off x="9705975" y="3087588"/>
            <a:ext cx="225630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546259" y="3087588"/>
            <a:ext cx="5561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666362" y="3125688"/>
            <a:ext cx="157658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.ad,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266587" y="3087588"/>
            <a:ext cx="5561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386691" y="3125688"/>
            <a:ext cx="259659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.soyad,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546259" y="3484662"/>
            <a:ext cx="123631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906423" y="3484662"/>
            <a:ext cx="55617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026527" y="3446562"/>
            <a:ext cx="5561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146630" y="3484662"/>
            <a:ext cx="361700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.ortalama)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2467034" y="3446562"/>
            <a:ext cx="89603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2827198" y="3484662"/>
            <a:ext cx="123631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gpa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705975" y="3805535"/>
            <a:ext cx="15761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306198" y="3805535"/>
            <a:ext cx="361616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ogrenciler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626453" y="3843635"/>
            <a:ext cx="5561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705975" y="4164509"/>
            <a:ext cx="15761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306199" y="4164509"/>
            <a:ext cx="225630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notlar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146482" y="4202609"/>
            <a:ext cx="5561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946184" y="4523482"/>
            <a:ext cx="89603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306348" y="4523482"/>
            <a:ext cx="5561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426452" y="4561582"/>
            <a:ext cx="429714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.ogrenciid =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986915" y="4523482"/>
            <a:ext cx="5561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2107018" y="4561582"/>
            <a:ext cx="361700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.ogrenciid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705975" y="4882455"/>
            <a:ext cx="19160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426154" y="4882455"/>
            <a:ext cx="5561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546259" y="4920555"/>
            <a:ext cx="429714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.kayityili =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2106720" y="4920555"/>
            <a:ext cx="15765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2022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9705975" y="5241429"/>
            <a:ext cx="293644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0786318" y="5241429"/>
            <a:ext cx="5561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906422" y="5279529"/>
            <a:ext cx="361700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.ogrenciid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705975" y="5600402"/>
            <a:ext cx="293644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0786318" y="5638502"/>
            <a:ext cx="123631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gpa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1266587" y="5600402"/>
            <a:ext cx="15761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1746706" y="5638502"/>
            <a:ext cx="55617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9705975" y="6261199"/>
            <a:ext cx="7534656" cy="378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57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Self-correction döngüsü</a:t>
            </a:r>
            <a:endParaRPr lang="en-US" sz="1575" dirty="0"/>
          </a:p>
        </p:txBody>
      </p:sp>
      <p:sp>
        <p:nvSpPr>
          <p:cNvPr id="63" name="Text 61"/>
          <p:cNvSpPr/>
          <p:nvPr/>
        </p:nvSpPr>
        <p:spPr>
          <a:xfrm>
            <a:off x="9705975" y="6734473"/>
            <a:ext cx="123631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0066139" y="6772573"/>
            <a:ext cx="55617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9946183" y="7112496"/>
            <a:ext cx="225672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0786467" y="7112496"/>
            <a:ext cx="55659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1026675" y="7112496"/>
            <a:ext cx="36170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db.execute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2227123" y="7112496"/>
            <a:ext cx="55617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12347228" y="7112496"/>
            <a:ext cx="123631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2707392" y="7112496"/>
            <a:ext cx="55617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9705975" y="7433370"/>
            <a:ext cx="225630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10546259" y="7433370"/>
            <a:ext cx="293644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SQLError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11626602" y="7433370"/>
            <a:ext cx="89603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1986766" y="7471470"/>
            <a:ext cx="5561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12106870" y="7471470"/>
            <a:ext cx="55617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9946184" y="7811393"/>
            <a:ext cx="123631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10426303" y="7811393"/>
            <a:ext cx="55659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10666512" y="7811393"/>
            <a:ext cx="259659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llm.fix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11506795" y="7811393"/>
            <a:ext cx="55617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11626900" y="7811393"/>
            <a:ext cx="123631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11987064" y="7811393"/>
            <a:ext cx="55617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12227272" y="7811393"/>
            <a:ext cx="5561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12347377" y="7811393"/>
            <a:ext cx="55617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52500" y="914400"/>
            <a:ext cx="406747" cy="257175"/>
          </a:xfrm>
          <a:prstGeom prst="roundRect">
            <a:avLst>
              <a:gd name="adj" fmla="val 18519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1047750" y="942975"/>
            <a:ext cx="29244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0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73547" y="938213"/>
            <a:ext cx="238854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02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 · BELGE SORGULAMA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952500" y="1323975"/>
            <a:ext cx="16874490" cy="614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</a:t>
            </a:r>
            <a:r>
              <a:rPr lang="en-US" sz="4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bileşeni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52500" y="2014240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 ile belge tabanlı yanıtlama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2975" y="3494213"/>
            <a:ext cx="9201150" cy="752475"/>
          </a:xfrm>
          <a:prstGeom prst="roundRect">
            <a:avLst>
              <a:gd name="adj" fmla="val 15190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942975" y="3494213"/>
            <a:ext cx="73489" cy="75247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1330671" y="3607198"/>
            <a:ext cx="3780443" cy="246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Doküman Yükleme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30671" y="3853261"/>
            <a:ext cx="378044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· TXT · Excel (.xlsx)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419225" y="4275262"/>
            <a:ext cx="45719" cy="14287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942975" y="4418138"/>
            <a:ext cx="9201150" cy="752475"/>
          </a:xfrm>
          <a:prstGeom prst="roundRect">
            <a:avLst>
              <a:gd name="adj" fmla="val 15190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942975" y="4418138"/>
            <a:ext cx="73489" cy="75247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1330672" y="4530056"/>
            <a:ext cx="5093514" cy="246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Metin Parçalama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30672" y="4776119"/>
            <a:ext cx="509351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Chunk: 1000 </a:t>
            </a:r>
            <a:r>
              <a:rPr lang="tr-TR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karakter</a:t>
            </a: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Overlap: 200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419225" y="5199187"/>
            <a:ext cx="45719" cy="142875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942975" y="5342063"/>
            <a:ext cx="9201150" cy="752475"/>
          </a:xfrm>
          <a:prstGeom prst="roundRect">
            <a:avLst>
              <a:gd name="adj" fmla="val 15190"/>
            </a:avLst>
          </a:prstGeom>
          <a:solidFill>
            <a:srgbClr val="F5F3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942975" y="5342957"/>
            <a:ext cx="73489" cy="75158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1330672" y="5456355"/>
            <a:ext cx="5914452" cy="246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30672" y="5702418"/>
            <a:ext cx="591445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multilingual-e5-small · 384 boyut · yerel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419225" y="6123112"/>
            <a:ext cx="45719" cy="142875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942975" y="6265988"/>
            <a:ext cx="9201150" cy="752475"/>
          </a:xfrm>
          <a:prstGeom prst="roundRect">
            <a:avLst>
              <a:gd name="adj" fmla="val 15190"/>
            </a:avLst>
          </a:prstGeom>
          <a:solidFill>
            <a:srgbClr val="F5F3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942975" y="6265988"/>
            <a:ext cx="73489" cy="752475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1330671" y="6407027"/>
            <a:ext cx="4224687" cy="246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 Depolama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30671" y="6653090"/>
            <a:ext cx="422468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Kalıcı vektör koleksiyonları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419225" y="7047037"/>
            <a:ext cx="45719" cy="142875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942975" y="7189913"/>
            <a:ext cx="9201150" cy="752475"/>
          </a:xfrm>
          <a:prstGeom prst="roundRect">
            <a:avLst>
              <a:gd name="adj" fmla="val 15190"/>
            </a:avLst>
          </a:prstGeom>
          <a:solidFill>
            <a:srgbClr val="ECFE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3" name="Shape 31"/>
          <p:cNvSpPr/>
          <p:nvPr/>
        </p:nvSpPr>
        <p:spPr>
          <a:xfrm>
            <a:off x="942975" y="7189913"/>
            <a:ext cx="73489" cy="752475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1330671" y="7302377"/>
            <a:ext cx="6401612" cy="246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Search + LLM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330671" y="7548440"/>
            <a:ext cx="640161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 chunk'lar bağlam olarak LLM'e verilir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525125" y="3494213"/>
            <a:ext cx="6800850" cy="1610618"/>
          </a:xfrm>
          <a:prstGeom prst="roundRect">
            <a:avLst>
              <a:gd name="adj" fmla="val 946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8575" dist="9525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8" name="Shape 36"/>
          <p:cNvSpPr/>
          <p:nvPr/>
        </p:nvSpPr>
        <p:spPr>
          <a:xfrm>
            <a:off x="10534650" y="3503738"/>
            <a:ext cx="6781800" cy="5715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10839450" y="3808538"/>
            <a:ext cx="635736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Modeli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10839450" y="4191920"/>
            <a:ext cx="6357366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intfloat/multilingual-e5-small </a:t>
            </a:r>
            <a:r>
              <a:rPr lang="en-US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Türkçe</a:t>
            </a:r>
            <a:r>
              <a:rPr lang="en-US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dahil 100+ dil, ücretsiz ve yerel</a:t>
            </a: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10525125" y="5276281"/>
            <a:ext cx="6800850" cy="1300609"/>
          </a:xfrm>
          <a:prstGeom prst="roundRect">
            <a:avLst>
              <a:gd name="adj" fmla="val 1171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8575" dist="9525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2" name="Shape 40"/>
          <p:cNvSpPr/>
          <p:nvPr/>
        </p:nvSpPr>
        <p:spPr>
          <a:xfrm>
            <a:off x="10534650" y="5285806"/>
            <a:ext cx="6781800" cy="5715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10839450" y="5590606"/>
            <a:ext cx="635736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Vektör DB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10839450" y="5975262"/>
            <a:ext cx="6357366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</a:t>
            </a:r>
            <a:r>
              <a:rPr lang="en-US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kalıcı</a:t>
            </a:r>
            <a:r>
              <a:rPr lang="en-US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depolama, koleksiyon bazlı</a:t>
            </a: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10525125" y="6748340"/>
            <a:ext cx="6800850" cy="1343025"/>
          </a:xfrm>
          <a:prstGeom prst="roundRect">
            <a:avLst>
              <a:gd name="adj" fmla="val 113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8575" dist="9525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6" name="Shape 44"/>
          <p:cNvSpPr/>
          <p:nvPr/>
        </p:nvSpPr>
        <p:spPr>
          <a:xfrm>
            <a:off x="10534650" y="6757865"/>
            <a:ext cx="6781800" cy="5715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7" name="Text 45"/>
          <p:cNvSpPr/>
          <p:nvPr/>
        </p:nvSpPr>
        <p:spPr>
          <a:xfrm>
            <a:off x="10839450" y="7062665"/>
            <a:ext cx="635736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Formatlar</a:t>
            </a:r>
            <a:endParaRPr lang="en-US" sz="2000" dirty="0"/>
          </a:p>
        </p:txBody>
      </p:sp>
      <p:grpSp>
        <p:nvGrpSpPr>
          <p:cNvPr id="54" name="Grup 53">
            <a:extLst>
              <a:ext uri="{FF2B5EF4-FFF2-40B4-BE49-F238E27FC236}">
                <a16:creationId xmlns:a16="http://schemas.microsoft.com/office/drawing/2014/main" id="{33E4DDB0-E876-A57B-2170-1AADC27C9DC7}"/>
              </a:ext>
            </a:extLst>
          </p:cNvPr>
          <p:cNvGrpSpPr/>
          <p:nvPr/>
        </p:nvGrpSpPr>
        <p:grpSpPr>
          <a:xfrm>
            <a:off x="10864075" y="7442175"/>
            <a:ext cx="1212812" cy="352425"/>
            <a:chOff x="10839449" y="7481765"/>
            <a:chExt cx="999103" cy="352425"/>
          </a:xfrm>
        </p:grpSpPr>
        <p:sp>
          <p:nvSpPr>
            <p:cNvPr id="48" name="Shape 46"/>
            <p:cNvSpPr/>
            <p:nvPr/>
          </p:nvSpPr>
          <p:spPr>
            <a:xfrm>
              <a:off x="10839449" y="7481765"/>
              <a:ext cx="999103" cy="352425"/>
            </a:xfrm>
            <a:prstGeom prst="roundRect">
              <a:avLst>
                <a:gd name="adj" fmla="val 18919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  <a:prstDash val="solid"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49" name="Text 47"/>
            <p:cNvSpPr/>
            <p:nvPr/>
          </p:nvSpPr>
          <p:spPr>
            <a:xfrm>
              <a:off x="10982324" y="7481766"/>
              <a:ext cx="714375" cy="35242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1E40A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PDF</a:t>
              </a:r>
              <a:endParaRPr lang="en-US" dirty="0"/>
            </a:p>
          </p:txBody>
        </p:sp>
      </p:grpSp>
      <p:grpSp>
        <p:nvGrpSpPr>
          <p:cNvPr id="55" name="Grup 54">
            <a:extLst>
              <a:ext uri="{FF2B5EF4-FFF2-40B4-BE49-F238E27FC236}">
                <a16:creationId xmlns:a16="http://schemas.microsoft.com/office/drawing/2014/main" id="{0285CC80-AD12-0C45-B0F7-AA407A3BE90F}"/>
              </a:ext>
            </a:extLst>
          </p:cNvPr>
          <p:cNvGrpSpPr/>
          <p:nvPr/>
        </p:nvGrpSpPr>
        <p:grpSpPr>
          <a:xfrm>
            <a:off x="12407161" y="7442175"/>
            <a:ext cx="1212812" cy="352425"/>
            <a:chOff x="11903451" y="7481765"/>
            <a:chExt cx="999103" cy="352425"/>
          </a:xfrm>
        </p:grpSpPr>
        <p:sp>
          <p:nvSpPr>
            <p:cNvPr id="50" name="Shape 48"/>
            <p:cNvSpPr/>
            <p:nvPr/>
          </p:nvSpPr>
          <p:spPr>
            <a:xfrm>
              <a:off x="11903451" y="7481765"/>
              <a:ext cx="999103" cy="352425"/>
            </a:xfrm>
            <a:prstGeom prst="roundRect">
              <a:avLst>
                <a:gd name="adj" fmla="val 18919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  <a:prstDash val="solid"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51" name="Text 49"/>
            <p:cNvSpPr/>
            <p:nvPr/>
          </p:nvSpPr>
          <p:spPr>
            <a:xfrm>
              <a:off x="12046326" y="7481766"/>
              <a:ext cx="709553" cy="35242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1E40A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TXT</a:t>
              </a:r>
              <a:endParaRPr lang="en-US" dirty="0"/>
            </a:p>
          </p:txBody>
        </p:sp>
      </p:grpSp>
      <p:grpSp>
        <p:nvGrpSpPr>
          <p:cNvPr id="56" name="Grup 55">
            <a:extLst>
              <a:ext uri="{FF2B5EF4-FFF2-40B4-BE49-F238E27FC236}">
                <a16:creationId xmlns:a16="http://schemas.microsoft.com/office/drawing/2014/main" id="{672F0C8B-D9D3-E867-24E2-A1821FCE54E1}"/>
              </a:ext>
            </a:extLst>
          </p:cNvPr>
          <p:cNvGrpSpPr/>
          <p:nvPr/>
        </p:nvGrpSpPr>
        <p:grpSpPr>
          <a:xfrm>
            <a:off x="13950246" y="7442175"/>
            <a:ext cx="1632467" cy="352425"/>
            <a:chOff x="12967453" y="7481765"/>
            <a:chExt cx="1344811" cy="352425"/>
          </a:xfrm>
        </p:grpSpPr>
        <p:sp>
          <p:nvSpPr>
            <p:cNvPr id="52" name="Shape 50"/>
            <p:cNvSpPr/>
            <p:nvPr/>
          </p:nvSpPr>
          <p:spPr>
            <a:xfrm>
              <a:off x="12967453" y="7481765"/>
              <a:ext cx="1344811" cy="352425"/>
            </a:xfrm>
            <a:prstGeom prst="roundRect">
              <a:avLst>
                <a:gd name="adj" fmla="val 18919"/>
              </a:avLst>
            </a:prstGeom>
            <a:solidFill>
              <a:srgbClr val="F5F3FF"/>
            </a:solidFill>
            <a:ln w="9525">
              <a:solidFill>
                <a:srgbClr val="DDD6FE"/>
              </a:solidFill>
              <a:prstDash val="solid"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53" name="Text 51"/>
            <p:cNvSpPr/>
            <p:nvPr/>
          </p:nvSpPr>
          <p:spPr>
            <a:xfrm>
              <a:off x="13110328" y="7481766"/>
              <a:ext cx="1055251" cy="35242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6D28D9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Excel</a:t>
              </a:r>
              <a:endParaRPr lang="en-US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52500" y="914400"/>
            <a:ext cx="409426" cy="257175"/>
          </a:xfrm>
          <a:prstGeom prst="roundRect">
            <a:avLst>
              <a:gd name="adj" fmla="val 18519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1047750" y="942975"/>
            <a:ext cx="29512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0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76226" y="938213"/>
            <a:ext cx="161776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02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DIĞER KANALLAR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952500" y="1323975"/>
            <a:ext cx="16874490" cy="614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arama &amp; </a:t>
            </a:r>
            <a:r>
              <a:rPr lang="en-US" sz="4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genel sohbet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52500" y="2014240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WEB_SEARCH · GENERAL · META kanalları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" y="2700040"/>
            <a:ext cx="8067675" cy="3326755"/>
          </a:xfrm>
          <a:prstGeom prst="roundRect">
            <a:avLst>
              <a:gd name="adj" fmla="val 458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8575" dist="9525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962025" y="2709565"/>
            <a:ext cx="8048625" cy="5715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1266825" y="3014365"/>
            <a:ext cx="76621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WEB_SEARCH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20140" y="3500801"/>
            <a:ext cx="7661910" cy="1216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85750" indent="-28575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DuckDuckGo API ile arama yapılır</a:t>
            </a:r>
            <a:endParaRPr lang="en-US" dirty="0"/>
          </a:p>
          <a:p>
            <a:pPr marL="285750" indent="-28575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Sonuçlar LLM'e özetlettirilir</a:t>
            </a:r>
            <a:endParaRPr lang="en-US" dirty="0"/>
          </a:p>
          <a:p>
            <a:pPr marL="285750" indent="-28575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Kaynak URL'leri kullanıcıya gösterilir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9267825" y="2700040"/>
            <a:ext cx="8067675" cy="3326755"/>
          </a:xfrm>
          <a:prstGeom prst="roundRect">
            <a:avLst>
              <a:gd name="adj" fmla="val 458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8575" dist="9525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9277350" y="2709565"/>
            <a:ext cx="8048625" cy="5715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9582150" y="3014365"/>
            <a:ext cx="76621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tr-TR" sz="2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CRAWLER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582150" y="3500801"/>
            <a:ext cx="7662196" cy="19003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85750" indent="-285750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robots.txt</a:t>
            </a:r>
            <a:r>
              <a:rPr lang="en-US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'e</a:t>
            </a:r>
            <a:r>
              <a:rPr lang="en-US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uyarak</a:t>
            </a:r>
            <a:r>
              <a:rPr lang="en-US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max 30 </a:t>
            </a:r>
            <a:r>
              <a:rPr lang="en-US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sayfa</a:t>
            </a:r>
            <a:r>
              <a:rPr lang="en-US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taranır</a:t>
            </a:r>
            <a:endParaRPr lang="tr-TR" dirty="0">
              <a:solidFill>
                <a:srgbClr val="1E293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İçerik</a:t>
            </a:r>
            <a:r>
              <a:rPr lang="en-US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RAG pipeline'ına eklenir, sorgulanabilir olur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952500" y="6274445"/>
            <a:ext cx="8067675" cy="3326755"/>
          </a:xfrm>
          <a:prstGeom prst="roundRect">
            <a:avLst>
              <a:gd name="adj" fmla="val 458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8575" dist="9525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962025" y="6283970"/>
            <a:ext cx="8048625" cy="571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1266825" y="6588770"/>
            <a:ext cx="76621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1266825" y="7078504"/>
            <a:ext cx="7662196" cy="16179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85750" indent="-285750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Bağlam</a:t>
            </a:r>
            <a:r>
              <a:rPr lang="en-US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penceresi</a:t>
            </a:r>
            <a:r>
              <a:rPr lang="en-US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son</a:t>
            </a:r>
            <a:r>
              <a:rPr lang="tr-TR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</a:t>
            </a:r>
            <a:r>
              <a:rPr lang="en-US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konuşma</a:t>
            </a:r>
            <a:r>
              <a:rPr lang="en-US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turu</a:t>
            </a:r>
            <a:endParaRPr lang="tr-TR" dirty="0">
              <a:solidFill>
                <a:srgbClr val="1E293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Akademik olmayan sorulara doğal yanıt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9267825" y="6274445"/>
            <a:ext cx="8067675" cy="3326755"/>
          </a:xfrm>
          <a:prstGeom prst="roundRect">
            <a:avLst>
              <a:gd name="adj" fmla="val 458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8575" dist="9525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9277350" y="6283970"/>
            <a:ext cx="8048625" cy="5715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9582150" y="6588770"/>
            <a:ext cx="76621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435465" y="7073033"/>
            <a:ext cx="7661910" cy="1216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85750" indent="-28575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Yüklü belgeler, aktif model, sistem durumu</a:t>
            </a:r>
            <a:endParaRPr lang="en-US" dirty="0"/>
          </a:p>
          <a:p>
            <a:pPr marL="285750" indent="-28575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"Hangi belgeler yüklü?" → otomatik yanıt</a:t>
            </a:r>
            <a:endParaRPr lang="en-US" dirty="0"/>
          </a:p>
          <a:p>
            <a:pPr marL="285750" indent="-28575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çağrısı gerektirmez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52500" y="914400"/>
            <a:ext cx="396627" cy="257175"/>
          </a:xfrm>
          <a:prstGeom prst="roundRect">
            <a:avLst>
              <a:gd name="adj" fmla="val 18519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1047750" y="942975"/>
            <a:ext cx="28232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0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63427" y="938213"/>
            <a:ext cx="183802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02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TEKNOLOJI YIĞINI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952500" y="1323975"/>
            <a:ext cx="16874490" cy="614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Kullanılan </a:t>
            </a:r>
            <a:r>
              <a:rPr lang="en-US" sz="4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teknolojiler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952500" y="2319040"/>
            <a:ext cx="16383000" cy="7600464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tr-TR" sz="2000" dirty="0"/>
          </a:p>
        </p:txBody>
      </p:sp>
      <p:sp>
        <p:nvSpPr>
          <p:cNvPr id="8" name="Shape 6"/>
          <p:cNvSpPr/>
          <p:nvPr/>
        </p:nvSpPr>
        <p:spPr>
          <a:xfrm>
            <a:off x="952500" y="2319040"/>
            <a:ext cx="2095500" cy="60007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tr-TR" sz="2000"/>
          </a:p>
        </p:txBody>
      </p:sp>
      <p:sp>
        <p:nvSpPr>
          <p:cNvPr id="9" name="Text 7"/>
          <p:cNvSpPr/>
          <p:nvPr/>
        </p:nvSpPr>
        <p:spPr>
          <a:xfrm>
            <a:off x="1219200" y="2490490"/>
            <a:ext cx="1638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Katman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048000" y="2319040"/>
            <a:ext cx="3619500" cy="60007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tr-TR" sz="2000"/>
          </a:p>
        </p:txBody>
      </p:sp>
      <p:sp>
        <p:nvSpPr>
          <p:cNvPr id="11" name="Text 9"/>
          <p:cNvSpPr/>
          <p:nvPr/>
        </p:nvSpPr>
        <p:spPr>
          <a:xfrm>
            <a:off x="3314700" y="2490490"/>
            <a:ext cx="319468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Teknoloji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667500" y="2319040"/>
            <a:ext cx="10668000" cy="60007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tr-TR" sz="2000"/>
          </a:p>
        </p:txBody>
      </p:sp>
      <p:sp>
        <p:nvSpPr>
          <p:cNvPr id="13" name="Text 11"/>
          <p:cNvSpPr/>
          <p:nvPr/>
        </p:nvSpPr>
        <p:spPr>
          <a:xfrm>
            <a:off x="6934200" y="2490490"/>
            <a:ext cx="104546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Açıklama</a:t>
            </a:r>
            <a:endParaRPr lang="en-US" sz="2000" dirty="0"/>
          </a:p>
        </p:txBody>
      </p:sp>
      <p:grpSp>
        <p:nvGrpSpPr>
          <p:cNvPr id="79" name="Grup 78">
            <a:extLst>
              <a:ext uri="{FF2B5EF4-FFF2-40B4-BE49-F238E27FC236}">
                <a16:creationId xmlns:a16="http://schemas.microsoft.com/office/drawing/2014/main" id="{2129240B-487A-A2DF-B7EC-EFA7071A6F22}"/>
              </a:ext>
            </a:extLst>
          </p:cNvPr>
          <p:cNvGrpSpPr/>
          <p:nvPr/>
        </p:nvGrpSpPr>
        <p:grpSpPr>
          <a:xfrm>
            <a:off x="952500" y="3071515"/>
            <a:ext cx="16436340" cy="657225"/>
            <a:chOff x="952500" y="3071515"/>
            <a:chExt cx="16436340" cy="509587"/>
          </a:xfrm>
        </p:grpSpPr>
        <p:sp>
          <p:nvSpPr>
            <p:cNvPr id="14" name="Shape 12"/>
            <p:cNvSpPr/>
            <p:nvPr/>
          </p:nvSpPr>
          <p:spPr>
            <a:xfrm>
              <a:off x="952500" y="3571577"/>
              <a:ext cx="2095500" cy="9525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tr-TR" sz="2000"/>
            </a:p>
          </p:txBody>
        </p:sp>
        <p:sp>
          <p:nvSpPr>
            <p:cNvPr id="15" name="Text 13"/>
            <p:cNvSpPr/>
            <p:nvPr/>
          </p:nvSpPr>
          <p:spPr>
            <a:xfrm>
              <a:off x="1219200" y="3071515"/>
              <a:ext cx="1638300" cy="38576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Backend</a:t>
              </a:r>
              <a:endParaRPr lang="en-US" sz="2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3048000" y="3571577"/>
              <a:ext cx="3619500" cy="9525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tr-TR" sz="2000"/>
            </a:p>
          </p:txBody>
        </p:sp>
        <p:sp>
          <p:nvSpPr>
            <p:cNvPr id="17" name="Shape 15"/>
            <p:cNvSpPr/>
            <p:nvPr/>
          </p:nvSpPr>
          <p:spPr>
            <a:xfrm>
              <a:off x="3314700" y="3071515"/>
              <a:ext cx="1350764" cy="352425"/>
            </a:xfrm>
            <a:prstGeom prst="roundRect">
              <a:avLst>
                <a:gd name="adj" fmla="val 18919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  <a:prstDash val="solid"/>
            </a:ln>
          </p:spPr>
          <p:txBody>
            <a:bodyPr/>
            <a:lstStyle/>
            <a:p>
              <a:endParaRPr lang="tr-TR" sz="2000"/>
            </a:p>
          </p:txBody>
        </p:sp>
        <p:sp>
          <p:nvSpPr>
            <p:cNvPr id="18" name="Text 16"/>
            <p:cNvSpPr/>
            <p:nvPr/>
          </p:nvSpPr>
          <p:spPr>
            <a:xfrm>
              <a:off x="3457575" y="3122817"/>
              <a:ext cx="1037337" cy="27254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1E40A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Python</a:t>
              </a:r>
              <a:endParaRPr lang="en-US" sz="2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5006057" y="3082196"/>
              <a:ext cx="1376214" cy="352425"/>
            </a:xfrm>
            <a:prstGeom prst="roundRect">
              <a:avLst>
                <a:gd name="adj" fmla="val 18919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  <a:prstDash val="solid"/>
            </a:ln>
          </p:spPr>
          <p:txBody>
            <a:bodyPr/>
            <a:lstStyle/>
            <a:p>
              <a:endParaRPr lang="tr-TR" sz="2000"/>
            </a:p>
          </p:txBody>
        </p:sp>
        <p:sp>
          <p:nvSpPr>
            <p:cNvPr id="20" name="Text 18"/>
            <p:cNvSpPr/>
            <p:nvPr/>
          </p:nvSpPr>
          <p:spPr>
            <a:xfrm>
              <a:off x="5148931" y="3122817"/>
              <a:ext cx="1114709" cy="28322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1E40A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Flask</a:t>
              </a:r>
              <a:endParaRPr lang="en-US" sz="2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6667500" y="3571577"/>
              <a:ext cx="10668000" cy="9525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tr-TR" sz="2000"/>
            </a:p>
          </p:txBody>
        </p:sp>
        <p:sp>
          <p:nvSpPr>
            <p:cNvPr id="22" name="Text 20"/>
            <p:cNvSpPr/>
            <p:nvPr/>
          </p:nvSpPr>
          <p:spPr>
            <a:xfrm>
              <a:off x="6934200" y="3071515"/>
              <a:ext cx="10454640" cy="38576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200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REST API, route yönetimi, session kontrolü</a:t>
              </a:r>
              <a:endParaRPr lang="en-US" sz="2000" dirty="0"/>
            </a:p>
          </p:txBody>
        </p:sp>
      </p:grpSp>
      <p:grpSp>
        <p:nvGrpSpPr>
          <p:cNvPr id="78" name="Grup 77">
            <a:extLst>
              <a:ext uri="{FF2B5EF4-FFF2-40B4-BE49-F238E27FC236}">
                <a16:creationId xmlns:a16="http://schemas.microsoft.com/office/drawing/2014/main" id="{CA402CA1-1702-38BA-7FAB-DADBD52F1062}"/>
              </a:ext>
            </a:extLst>
          </p:cNvPr>
          <p:cNvGrpSpPr/>
          <p:nvPr/>
        </p:nvGrpSpPr>
        <p:grpSpPr>
          <a:xfrm>
            <a:off x="952500" y="3901422"/>
            <a:ext cx="16436340" cy="1087131"/>
            <a:chOff x="952500" y="3733502"/>
            <a:chExt cx="16436340" cy="866775"/>
          </a:xfrm>
        </p:grpSpPr>
        <p:sp>
          <p:nvSpPr>
            <p:cNvPr id="24" name="Shape 22"/>
            <p:cNvSpPr/>
            <p:nvPr/>
          </p:nvSpPr>
          <p:spPr>
            <a:xfrm>
              <a:off x="952500" y="4590752"/>
              <a:ext cx="2095500" cy="9525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tr-TR" sz="2000"/>
            </a:p>
          </p:txBody>
        </p:sp>
        <p:sp>
          <p:nvSpPr>
            <p:cNvPr id="25" name="Text 23"/>
            <p:cNvSpPr/>
            <p:nvPr/>
          </p:nvSpPr>
          <p:spPr>
            <a:xfrm>
              <a:off x="1219200" y="3733502"/>
              <a:ext cx="1638300" cy="7429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LLM</a:t>
              </a:r>
              <a:endParaRPr lang="en-US" sz="20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3048000" y="4590752"/>
              <a:ext cx="3619500" cy="9525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tr-TR" sz="2000"/>
            </a:p>
          </p:txBody>
        </p:sp>
        <p:sp>
          <p:nvSpPr>
            <p:cNvPr id="28" name="Shape 26"/>
            <p:cNvSpPr/>
            <p:nvPr/>
          </p:nvSpPr>
          <p:spPr>
            <a:xfrm>
              <a:off x="3314699" y="3738265"/>
              <a:ext cx="2537459" cy="352425"/>
            </a:xfrm>
            <a:prstGeom prst="roundRect">
              <a:avLst>
                <a:gd name="adj" fmla="val 18919"/>
              </a:avLst>
            </a:prstGeom>
            <a:solidFill>
              <a:srgbClr val="F5F3FF"/>
            </a:solidFill>
            <a:ln w="9525">
              <a:solidFill>
                <a:srgbClr val="DDD6FE"/>
              </a:solidFill>
              <a:prstDash val="solid"/>
            </a:ln>
          </p:spPr>
          <p:txBody>
            <a:bodyPr/>
            <a:lstStyle/>
            <a:p>
              <a:endParaRPr lang="tr-TR" sz="2000"/>
            </a:p>
          </p:txBody>
        </p:sp>
        <p:sp>
          <p:nvSpPr>
            <p:cNvPr id="29" name="Text 27"/>
            <p:cNvSpPr/>
            <p:nvPr/>
          </p:nvSpPr>
          <p:spPr>
            <a:xfrm>
              <a:off x="3457575" y="3781128"/>
              <a:ext cx="2162328" cy="28098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6D28D9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GPT-4o-mini</a:t>
              </a:r>
              <a:endParaRPr lang="en-US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3314700" y="4131330"/>
              <a:ext cx="2537460" cy="352425"/>
            </a:xfrm>
            <a:prstGeom prst="roundRect">
              <a:avLst>
                <a:gd name="adj" fmla="val 18919"/>
              </a:avLst>
            </a:prstGeom>
            <a:solidFill>
              <a:srgbClr val="F5F3FF"/>
            </a:solidFill>
            <a:ln w="9525">
              <a:solidFill>
                <a:srgbClr val="DDD6FE"/>
              </a:solidFill>
              <a:prstDash val="solid"/>
            </a:ln>
          </p:spPr>
          <p:txBody>
            <a:bodyPr/>
            <a:lstStyle/>
            <a:p>
              <a:endParaRPr lang="tr-TR" sz="2000"/>
            </a:p>
          </p:txBody>
        </p:sp>
        <p:sp>
          <p:nvSpPr>
            <p:cNvPr id="31" name="Text 29"/>
            <p:cNvSpPr/>
            <p:nvPr/>
          </p:nvSpPr>
          <p:spPr>
            <a:xfrm>
              <a:off x="3457575" y="4157365"/>
              <a:ext cx="2187705" cy="29781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6D28D9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Gemini Flash</a:t>
              </a:r>
              <a:endParaRPr lang="en-US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6667500" y="4590752"/>
              <a:ext cx="10668000" cy="9525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tr-TR" sz="2000"/>
            </a:p>
          </p:txBody>
        </p:sp>
        <p:sp>
          <p:nvSpPr>
            <p:cNvPr id="34" name="Text 32"/>
            <p:cNvSpPr/>
            <p:nvPr/>
          </p:nvSpPr>
          <p:spPr>
            <a:xfrm>
              <a:off x="6934200" y="3733502"/>
              <a:ext cx="10454640" cy="7429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200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Çalışma anında model değiştirilebilir</a:t>
              </a:r>
              <a:endParaRPr lang="en-US" sz="2000" dirty="0"/>
            </a:p>
          </p:txBody>
        </p:sp>
      </p:grpSp>
      <p:grpSp>
        <p:nvGrpSpPr>
          <p:cNvPr id="77" name="Grup 76">
            <a:extLst>
              <a:ext uri="{FF2B5EF4-FFF2-40B4-BE49-F238E27FC236}">
                <a16:creationId xmlns:a16="http://schemas.microsoft.com/office/drawing/2014/main" id="{06312E03-9652-BFB4-2EAA-92C057B93A1E}"/>
              </a:ext>
            </a:extLst>
          </p:cNvPr>
          <p:cNvGrpSpPr/>
          <p:nvPr/>
        </p:nvGrpSpPr>
        <p:grpSpPr>
          <a:xfrm>
            <a:off x="1219200" y="5614954"/>
            <a:ext cx="16169640" cy="428628"/>
            <a:chOff x="1219200" y="4752677"/>
            <a:chExt cx="16169640" cy="428628"/>
          </a:xfrm>
        </p:grpSpPr>
        <p:sp>
          <p:nvSpPr>
            <p:cNvPr id="36" name="Text 34"/>
            <p:cNvSpPr/>
            <p:nvPr/>
          </p:nvSpPr>
          <p:spPr>
            <a:xfrm>
              <a:off x="1219200" y="4752677"/>
              <a:ext cx="1638300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Embedding</a:t>
              </a:r>
              <a:endParaRPr lang="en-US" sz="20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3314700" y="4757440"/>
              <a:ext cx="3194685" cy="423865"/>
            </a:xfrm>
            <a:prstGeom prst="roundRect">
              <a:avLst>
                <a:gd name="adj" fmla="val 18919"/>
              </a:avLst>
            </a:prstGeom>
            <a:solidFill>
              <a:srgbClr val="F0FDF4"/>
            </a:solidFill>
            <a:ln w="9525">
              <a:solidFill>
                <a:srgbClr val="BBF7D0"/>
              </a:solidFill>
              <a:prstDash val="solid"/>
            </a:ln>
          </p:spPr>
          <p:txBody>
            <a:bodyPr/>
            <a:lstStyle/>
            <a:p>
              <a:endParaRPr lang="tr-TR" sz="2000"/>
            </a:p>
          </p:txBody>
        </p:sp>
        <p:sp>
          <p:nvSpPr>
            <p:cNvPr id="39" name="Text 37"/>
            <p:cNvSpPr/>
            <p:nvPr/>
          </p:nvSpPr>
          <p:spPr>
            <a:xfrm>
              <a:off x="3457575" y="4783501"/>
              <a:ext cx="3051810" cy="31459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059669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multilingual-e5-small</a:t>
              </a:r>
              <a:endParaRPr lang="en-US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6934200" y="4752677"/>
              <a:ext cx="10454640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200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Yerel </a:t>
              </a:r>
              <a:r>
                <a:rPr lang="en-US" sz="2000" dirty="0" err="1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HuggingFace</a:t>
              </a:r>
              <a:r>
                <a:rPr lang="en-US" sz="200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2000" dirty="0" err="1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modeli</a:t>
              </a:r>
              <a:r>
                <a:rPr lang="en-US" sz="200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2000" dirty="0" err="1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ücretsiz</a:t>
              </a:r>
              <a:r>
                <a:rPr lang="en-US" sz="200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, 100+ dil</a:t>
              </a:r>
              <a:endParaRPr lang="en-US" sz="2000" dirty="0"/>
            </a:p>
          </p:txBody>
        </p:sp>
      </p:grpSp>
      <p:grpSp>
        <p:nvGrpSpPr>
          <p:cNvPr id="76" name="Grup 75">
            <a:extLst>
              <a:ext uri="{FF2B5EF4-FFF2-40B4-BE49-F238E27FC236}">
                <a16:creationId xmlns:a16="http://schemas.microsoft.com/office/drawing/2014/main" id="{0405681C-B013-B2D0-FE58-2EEB13D55A5B}"/>
              </a:ext>
            </a:extLst>
          </p:cNvPr>
          <p:cNvGrpSpPr/>
          <p:nvPr/>
        </p:nvGrpSpPr>
        <p:grpSpPr>
          <a:xfrm>
            <a:off x="1017270" y="6622357"/>
            <a:ext cx="16436340" cy="676275"/>
            <a:chOff x="952500" y="5257502"/>
            <a:chExt cx="16436340" cy="676275"/>
          </a:xfrm>
        </p:grpSpPr>
        <p:sp>
          <p:nvSpPr>
            <p:cNvPr id="35" name="Shape 33"/>
            <p:cNvSpPr/>
            <p:nvPr/>
          </p:nvSpPr>
          <p:spPr>
            <a:xfrm>
              <a:off x="952500" y="5257502"/>
              <a:ext cx="2095500" cy="9525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tr-TR" sz="2000"/>
            </a:p>
          </p:txBody>
        </p:sp>
        <p:sp>
          <p:nvSpPr>
            <p:cNvPr id="37" name="Shape 35"/>
            <p:cNvSpPr/>
            <p:nvPr/>
          </p:nvSpPr>
          <p:spPr>
            <a:xfrm>
              <a:off x="3048000" y="5257502"/>
              <a:ext cx="3619500" cy="9525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tr-TR" sz="2000"/>
            </a:p>
          </p:txBody>
        </p:sp>
        <p:sp>
          <p:nvSpPr>
            <p:cNvPr id="40" name="Shape 38"/>
            <p:cNvSpPr/>
            <p:nvPr/>
          </p:nvSpPr>
          <p:spPr>
            <a:xfrm>
              <a:off x="6667500" y="5257502"/>
              <a:ext cx="10668000" cy="9525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tr-TR" sz="2000"/>
            </a:p>
          </p:txBody>
        </p:sp>
        <p:sp>
          <p:nvSpPr>
            <p:cNvPr id="42" name="Shape 40"/>
            <p:cNvSpPr/>
            <p:nvPr/>
          </p:nvSpPr>
          <p:spPr>
            <a:xfrm>
              <a:off x="952500" y="5267027"/>
              <a:ext cx="2095500" cy="666750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tr-TR" sz="2000"/>
            </a:p>
          </p:txBody>
        </p:sp>
        <p:sp>
          <p:nvSpPr>
            <p:cNvPr id="43" name="Shape 41"/>
            <p:cNvSpPr/>
            <p:nvPr/>
          </p:nvSpPr>
          <p:spPr>
            <a:xfrm>
              <a:off x="952500" y="5924252"/>
              <a:ext cx="2095500" cy="9525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tr-TR" sz="2000"/>
            </a:p>
          </p:txBody>
        </p:sp>
        <p:sp>
          <p:nvSpPr>
            <p:cNvPr id="44" name="Text 42"/>
            <p:cNvSpPr/>
            <p:nvPr/>
          </p:nvSpPr>
          <p:spPr>
            <a:xfrm>
              <a:off x="1154430" y="5407321"/>
              <a:ext cx="1638300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Vektör DB</a:t>
              </a:r>
              <a:endParaRPr lang="en-US" sz="200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3048000" y="5267027"/>
              <a:ext cx="3619500" cy="666750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tr-TR" sz="2000"/>
            </a:p>
          </p:txBody>
        </p:sp>
        <p:sp>
          <p:nvSpPr>
            <p:cNvPr id="46" name="Shape 44"/>
            <p:cNvSpPr/>
            <p:nvPr/>
          </p:nvSpPr>
          <p:spPr>
            <a:xfrm>
              <a:off x="3048000" y="5924252"/>
              <a:ext cx="3619500" cy="9525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tr-TR" sz="2000"/>
            </a:p>
          </p:txBody>
        </p:sp>
        <p:sp>
          <p:nvSpPr>
            <p:cNvPr id="47" name="Shape 45"/>
            <p:cNvSpPr/>
            <p:nvPr/>
          </p:nvSpPr>
          <p:spPr>
            <a:xfrm>
              <a:off x="3249930" y="5399145"/>
              <a:ext cx="1718860" cy="352425"/>
            </a:xfrm>
            <a:prstGeom prst="roundRect">
              <a:avLst>
                <a:gd name="adj" fmla="val 18919"/>
              </a:avLst>
            </a:prstGeom>
            <a:solidFill>
              <a:srgbClr val="F5F3FF"/>
            </a:solidFill>
            <a:ln w="9525">
              <a:solidFill>
                <a:srgbClr val="DDD6FE"/>
              </a:solidFill>
              <a:prstDash val="solid"/>
            </a:ln>
          </p:spPr>
          <p:txBody>
            <a:bodyPr/>
            <a:lstStyle/>
            <a:p>
              <a:endParaRPr lang="tr-TR" sz="2000"/>
            </a:p>
          </p:txBody>
        </p:sp>
        <p:sp>
          <p:nvSpPr>
            <p:cNvPr id="48" name="Text 46"/>
            <p:cNvSpPr/>
            <p:nvPr/>
          </p:nvSpPr>
          <p:spPr>
            <a:xfrm>
              <a:off x="3392804" y="5399145"/>
              <a:ext cx="1394007" cy="3524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6D28D9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ChromaDB</a:t>
              </a:r>
              <a:endParaRPr lang="en-US" sz="2000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6667500" y="5267027"/>
              <a:ext cx="10668000" cy="666750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endParaRPr lang="tr-TR" sz="2000"/>
            </a:p>
          </p:txBody>
        </p:sp>
        <p:sp>
          <p:nvSpPr>
            <p:cNvPr id="50" name="Shape 48"/>
            <p:cNvSpPr/>
            <p:nvPr/>
          </p:nvSpPr>
          <p:spPr>
            <a:xfrm>
              <a:off x="6667500" y="5924252"/>
              <a:ext cx="10668000" cy="9525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tr-TR" sz="2000"/>
            </a:p>
          </p:txBody>
        </p:sp>
        <p:sp>
          <p:nvSpPr>
            <p:cNvPr id="51" name="Text 49"/>
            <p:cNvSpPr/>
            <p:nvPr/>
          </p:nvSpPr>
          <p:spPr>
            <a:xfrm>
              <a:off x="6934200" y="5419427"/>
              <a:ext cx="10454640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200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Kalıcı depolama, koleksiyon bazlı organizasyon</a:t>
              </a:r>
              <a:endParaRPr lang="en-US" sz="2000" dirty="0"/>
            </a:p>
          </p:txBody>
        </p:sp>
      </p:grpSp>
      <p:grpSp>
        <p:nvGrpSpPr>
          <p:cNvPr id="83" name="Grup 82">
            <a:extLst>
              <a:ext uri="{FF2B5EF4-FFF2-40B4-BE49-F238E27FC236}">
                <a16:creationId xmlns:a16="http://schemas.microsoft.com/office/drawing/2014/main" id="{5348B725-E04E-38AE-6F71-D59D2F12D022}"/>
              </a:ext>
            </a:extLst>
          </p:cNvPr>
          <p:cNvGrpSpPr/>
          <p:nvPr/>
        </p:nvGrpSpPr>
        <p:grpSpPr>
          <a:xfrm>
            <a:off x="1192530" y="7742459"/>
            <a:ext cx="16169640" cy="492137"/>
            <a:chOff x="1238949" y="7592916"/>
            <a:chExt cx="16169640" cy="492137"/>
          </a:xfrm>
        </p:grpSpPr>
        <p:sp>
          <p:nvSpPr>
            <p:cNvPr id="53" name="Text 51"/>
            <p:cNvSpPr/>
            <p:nvPr/>
          </p:nvSpPr>
          <p:spPr>
            <a:xfrm>
              <a:off x="1238949" y="7694528"/>
              <a:ext cx="1638300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İlişkisel DB</a:t>
              </a:r>
              <a:endParaRPr lang="en-US" sz="2000" dirty="0"/>
            </a:p>
          </p:txBody>
        </p:sp>
        <p:sp>
          <p:nvSpPr>
            <p:cNvPr id="55" name="Shape 53"/>
            <p:cNvSpPr/>
            <p:nvPr/>
          </p:nvSpPr>
          <p:spPr>
            <a:xfrm>
              <a:off x="3347873" y="7592916"/>
              <a:ext cx="1504950" cy="443794"/>
            </a:xfrm>
            <a:prstGeom prst="roundRect">
              <a:avLst>
                <a:gd name="adj" fmla="val 18919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  <a:prstDash val="solid"/>
            </a:ln>
          </p:spPr>
          <p:txBody>
            <a:bodyPr/>
            <a:lstStyle/>
            <a:p>
              <a:endParaRPr lang="tr-TR" sz="2000" dirty="0"/>
            </a:p>
          </p:txBody>
        </p:sp>
        <p:sp>
          <p:nvSpPr>
            <p:cNvPr id="56" name="Text 54"/>
            <p:cNvSpPr/>
            <p:nvPr/>
          </p:nvSpPr>
          <p:spPr>
            <a:xfrm>
              <a:off x="3490748" y="7631960"/>
              <a:ext cx="1155746" cy="3761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1E40A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SQLite</a:t>
              </a:r>
              <a:endParaRPr lang="en-US" sz="2000" dirty="0"/>
            </a:p>
          </p:txBody>
        </p:sp>
        <p:sp>
          <p:nvSpPr>
            <p:cNvPr id="58" name="Text 56"/>
            <p:cNvSpPr/>
            <p:nvPr/>
          </p:nvSpPr>
          <p:spPr>
            <a:xfrm>
              <a:off x="6953949" y="7694528"/>
              <a:ext cx="10454640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200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7 tablo, demo akademik veri seti</a:t>
              </a:r>
              <a:endParaRPr lang="en-US" sz="2000" dirty="0"/>
            </a:p>
          </p:txBody>
        </p:sp>
      </p:grpSp>
      <p:grpSp>
        <p:nvGrpSpPr>
          <p:cNvPr id="82" name="Grup 81">
            <a:extLst>
              <a:ext uri="{FF2B5EF4-FFF2-40B4-BE49-F238E27FC236}">
                <a16:creationId xmlns:a16="http://schemas.microsoft.com/office/drawing/2014/main" id="{8E20B345-43F2-9E8B-B813-CB0EC28FDC1B}"/>
              </a:ext>
            </a:extLst>
          </p:cNvPr>
          <p:cNvGrpSpPr/>
          <p:nvPr/>
        </p:nvGrpSpPr>
        <p:grpSpPr>
          <a:xfrm>
            <a:off x="955690" y="8780034"/>
            <a:ext cx="16379810" cy="790576"/>
            <a:chOff x="955690" y="8780034"/>
            <a:chExt cx="16528400" cy="790576"/>
          </a:xfrm>
        </p:grpSpPr>
        <p:grpSp>
          <p:nvGrpSpPr>
            <p:cNvPr id="80" name="Grup 79">
              <a:extLst>
                <a:ext uri="{FF2B5EF4-FFF2-40B4-BE49-F238E27FC236}">
                  <a16:creationId xmlns:a16="http://schemas.microsoft.com/office/drawing/2014/main" id="{0403FC5E-17CE-CEAF-E933-C634A7BACE30}"/>
                </a:ext>
              </a:extLst>
            </p:cNvPr>
            <p:cNvGrpSpPr/>
            <p:nvPr/>
          </p:nvGrpSpPr>
          <p:grpSpPr>
            <a:xfrm>
              <a:off x="955690" y="8780034"/>
              <a:ext cx="16383000" cy="9525"/>
              <a:chOff x="972249" y="8199353"/>
              <a:chExt cx="16383000" cy="9525"/>
            </a:xfrm>
          </p:grpSpPr>
          <p:sp>
            <p:nvSpPr>
              <p:cNvPr id="52" name="Shape 50"/>
              <p:cNvSpPr/>
              <p:nvPr/>
            </p:nvSpPr>
            <p:spPr>
              <a:xfrm>
                <a:off x="972249" y="8199353"/>
                <a:ext cx="2095500" cy="9525"/>
              </a:xfrm>
              <a:prstGeom prst="rect">
                <a:avLst/>
              </a:prstGeom>
              <a:solidFill>
                <a:srgbClr val="E2E8F0"/>
              </a:solidFill>
              <a:ln/>
            </p:spPr>
            <p:txBody>
              <a:bodyPr/>
              <a:lstStyle/>
              <a:p>
                <a:endParaRPr lang="tr-TR" sz="2000"/>
              </a:p>
            </p:txBody>
          </p:sp>
          <p:sp>
            <p:nvSpPr>
              <p:cNvPr id="54" name="Shape 52"/>
              <p:cNvSpPr/>
              <p:nvPr/>
            </p:nvSpPr>
            <p:spPr>
              <a:xfrm>
                <a:off x="3067749" y="8199353"/>
                <a:ext cx="3619500" cy="9525"/>
              </a:xfrm>
              <a:prstGeom prst="rect">
                <a:avLst/>
              </a:prstGeom>
              <a:solidFill>
                <a:srgbClr val="E2E8F0"/>
              </a:solidFill>
              <a:ln/>
            </p:spPr>
            <p:txBody>
              <a:bodyPr/>
              <a:lstStyle/>
              <a:p>
                <a:endParaRPr lang="tr-TR" sz="2000"/>
              </a:p>
            </p:txBody>
          </p:sp>
          <p:sp>
            <p:nvSpPr>
              <p:cNvPr id="57" name="Shape 55"/>
              <p:cNvSpPr/>
              <p:nvPr/>
            </p:nvSpPr>
            <p:spPr>
              <a:xfrm>
                <a:off x="6687249" y="8199353"/>
                <a:ext cx="10668000" cy="9525"/>
              </a:xfrm>
              <a:prstGeom prst="rect">
                <a:avLst/>
              </a:prstGeom>
              <a:solidFill>
                <a:srgbClr val="E2E8F0"/>
              </a:solidFill>
              <a:ln/>
            </p:spPr>
            <p:txBody>
              <a:bodyPr/>
              <a:lstStyle/>
              <a:p>
                <a:endParaRPr lang="tr-TR" sz="2000"/>
              </a:p>
            </p:txBody>
          </p:sp>
        </p:grpSp>
        <p:grpSp>
          <p:nvGrpSpPr>
            <p:cNvPr id="66" name="Grup 65">
              <a:extLst>
                <a:ext uri="{FF2B5EF4-FFF2-40B4-BE49-F238E27FC236}">
                  <a16:creationId xmlns:a16="http://schemas.microsoft.com/office/drawing/2014/main" id="{D687732A-2526-C326-E5A6-9215284478D3}"/>
                </a:ext>
              </a:extLst>
            </p:cNvPr>
            <p:cNvGrpSpPr/>
            <p:nvPr/>
          </p:nvGrpSpPr>
          <p:grpSpPr>
            <a:xfrm>
              <a:off x="1047750" y="8908622"/>
              <a:ext cx="16436340" cy="661988"/>
              <a:chOff x="952500" y="6600527"/>
              <a:chExt cx="16436340" cy="661988"/>
            </a:xfrm>
          </p:grpSpPr>
          <p:sp>
            <p:nvSpPr>
              <p:cNvPr id="59" name="Shape 57"/>
              <p:cNvSpPr/>
              <p:nvPr/>
            </p:nvSpPr>
            <p:spPr>
              <a:xfrm>
                <a:off x="952500" y="6600527"/>
                <a:ext cx="2095500" cy="661988"/>
              </a:xfrm>
              <a:prstGeom prst="rect">
                <a:avLst/>
              </a:prstGeom>
              <a:solidFill>
                <a:srgbClr val="F8FAFC"/>
              </a:solidFill>
              <a:ln/>
            </p:spPr>
            <p:txBody>
              <a:bodyPr/>
              <a:lstStyle/>
              <a:p>
                <a:endParaRPr lang="tr-TR" sz="2000"/>
              </a:p>
            </p:txBody>
          </p:sp>
          <p:sp>
            <p:nvSpPr>
              <p:cNvPr id="60" name="Text 58"/>
              <p:cNvSpPr/>
              <p:nvPr/>
            </p:nvSpPr>
            <p:spPr>
              <a:xfrm>
                <a:off x="1126341" y="6733877"/>
                <a:ext cx="1638300" cy="395288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2000" b="1" dirty="0">
                    <a:solidFill>
                      <a:srgbClr val="1E293B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Web Arama</a:t>
                </a:r>
                <a:endParaRPr lang="en-US" sz="2000" dirty="0"/>
              </a:p>
            </p:txBody>
          </p:sp>
          <p:sp>
            <p:nvSpPr>
              <p:cNvPr id="61" name="Shape 59"/>
              <p:cNvSpPr/>
              <p:nvPr/>
            </p:nvSpPr>
            <p:spPr>
              <a:xfrm>
                <a:off x="3048000" y="6600527"/>
                <a:ext cx="3619500" cy="661988"/>
              </a:xfrm>
              <a:prstGeom prst="rect">
                <a:avLst/>
              </a:prstGeom>
              <a:solidFill>
                <a:srgbClr val="F8FAFC"/>
              </a:solidFill>
              <a:ln/>
            </p:spPr>
            <p:txBody>
              <a:bodyPr/>
              <a:lstStyle/>
              <a:p>
                <a:endParaRPr lang="tr-TR" sz="2000"/>
              </a:p>
            </p:txBody>
          </p:sp>
          <p:sp>
            <p:nvSpPr>
              <p:cNvPr id="62" name="Shape 60"/>
              <p:cNvSpPr/>
              <p:nvPr/>
            </p:nvSpPr>
            <p:spPr>
              <a:xfrm>
                <a:off x="3240850" y="6752927"/>
                <a:ext cx="2901841" cy="352425"/>
              </a:xfrm>
              <a:prstGeom prst="roundRect">
                <a:avLst>
                  <a:gd name="adj" fmla="val 18919"/>
                </a:avLst>
              </a:prstGeom>
              <a:solidFill>
                <a:srgbClr val="ECFEFF"/>
              </a:solidFill>
              <a:ln w="9525">
                <a:solidFill>
                  <a:srgbClr val="A5F3FC"/>
                </a:solidFill>
                <a:prstDash val="solid"/>
              </a:ln>
            </p:spPr>
            <p:txBody>
              <a:bodyPr/>
              <a:lstStyle/>
              <a:p>
                <a:endParaRPr lang="tr-TR" sz="2000" dirty="0"/>
              </a:p>
            </p:txBody>
          </p:sp>
          <p:sp>
            <p:nvSpPr>
              <p:cNvPr id="63" name="Text 61"/>
              <p:cNvSpPr/>
              <p:nvPr/>
            </p:nvSpPr>
            <p:spPr>
              <a:xfrm>
                <a:off x="3383724" y="6752928"/>
                <a:ext cx="2549527" cy="32385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0891B2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DuckDuckGo API</a:t>
                </a:r>
                <a:endParaRPr lang="en-US" sz="2000" dirty="0"/>
              </a:p>
            </p:txBody>
          </p:sp>
          <p:sp>
            <p:nvSpPr>
              <p:cNvPr id="64" name="Shape 62"/>
              <p:cNvSpPr/>
              <p:nvPr/>
            </p:nvSpPr>
            <p:spPr>
              <a:xfrm>
                <a:off x="6667500" y="6600527"/>
                <a:ext cx="10668000" cy="661988"/>
              </a:xfrm>
              <a:prstGeom prst="rect">
                <a:avLst/>
              </a:prstGeom>
              <a:solidFill>
                <a:srgbClr val="F8FAFC"/>
              </a:solidFill>
              <a:ln/>
            </p:spPr>
            <p:txBody>
              <a:bodyPr/>
              <a:lstStyle/>
              <a:p>
                <a:endParaRPr lang="tr-TR" sz="2000"/>
              </a:p>
            </p:txBody>
          </p:sp>
          <p:sp>
            <p:nvSpPr>
              <p:cNvPr id="65" name="Text 63"/>
              <p:cNvSpPr/>
              <p:nvPr/>
            </p:nvSpPr>
            <p:spPr>
              <a:xfrm>
                <a:off x="6934200" y="6752927"/>
                <a:ext cx="10454640" cy="395288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2000" dirty="0">
                    <a:solidFill>
                      <a:srgbClr val="1E293B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Ücretsiz, API anahtarı gerektirmiyor</a:t>
                </a:r>
                <a:endParaRPr lang="en-US" sz="2000" dirty="0"/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52500" y="914400"/>
            <a:ext cx="406747" cy="257175"/>
          </a:xfrm>
          <a:prstGeom prst="roundRect">
            <a:avLst>
              <a:gd name="adj" fmla="val 18519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1047750" y="942975"/>
            <a:ext cx="29244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0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73547" y="938213"/>
            <a:ext cx="150762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02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ARAYÜZ &amp; DEMO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952500" y="1323975"/>
            <a:ext cx="16874490" cy="614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Kullanıcı </a:t>
            </a:r>
            <a:r>
              <a:rPr lang="en-US" sz="4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arayüzü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52500" y="2014240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sütun layout: sidebar · sohbet · bilgi paneli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28600" y="228600"/>
            <a:ext cx="133350" cy="13335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438150" y="228600"/>
            <a:ext cx="133350" cy="133350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647700" y="228600"/>
            <a:ext cx="133350" cy="13335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952500" y="7653040"/>
            <a:ext cx="8058150" cy="219075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8575" dist="9525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tr-TR" sz="2400"/>
          </a:p>
        </p:txBody>
      </p:sp>
      <p:sp>
        <p:nvSpPr>
          <p:cNvPr id="16" name="Shape 14"/>
          <p:cNvSpPr/>
          <p:nvPr/>
        </p:nvSpPr>
        <p:spPr>
          <a:xfrm>
            <a:off x="962025" y="7662565"/>
            <a:ext cx="8039100" cy="571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tr-TR" sz="2400"/>
          </a:p>
        </p:txBody>
      </p:sp>
      <p:sp>
        <p:nvSpPr>
          <p:cNvPr id="17" name="Text 15"/>
          <p:cNvSpPr/>
          <p:nvPr/>
        </p:nvSpPr>
        <p:spPr>
          <a:xfrm>
            <a:off x="1266825" y="7967365"/>
            <a:ext cx="765238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Öne Çıkan Özellikler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120140" y="8386465"/>
            <a:ext cx="7652385" cy="1139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342900" indent="-34290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Çoklu konuşma yönetimi (oturum bazlı)</a:t>
            </a:r>
            <a:endParaRPr lang="en-US" sz="2000" dirty="0"/>
          </a:p>
          <a:p>
            <a:pPr marL="342900" indent="-34290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Çalışma anında model seçimi (GPT / Gemini)</a:t>
            </a:r>
            <a:endParaRPr lang="en-US" sz="2000" dirty="0"/>
          </a:p>
          <a:p>
            <a:pPr marL="342900" indent="-34290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ve maliyet göstergesi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277350" y="7653040"/>
            <a:ext cx="8058150" cy="219075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8575" dist="9525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tr-TR" sz="2400"/>
          </a:p>
        </p:txBody>
      </p:sp>
      <p:sp>
        <p:nvSpPr>
          <p:cNvPr id="20" name="Shape 18"/>
          <p:cNvSpPr/>
          <p:nvPr/>
        </p:nvSpPr>
        <p:spPr>
          <a:xfrm>
            <a:off x="9286875" y="7662565"/>
            <a:ext cx="8039100" cy="5715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tr-TR" sz="2400"/>
          </a:p>
        </p:txBody>
      </p:sp>
      <p:sp>
        <p:nvSpPr>
          <p:cNvPr id="21" name="Text 19"/>
          <p:cNvSpPr/>
          <p:nvPr/>
        </p:nvSpPr>
        <p:spPr>
          <a:xfrm>
            <a:off x="9591675" y="7967365"/>
            <a:ext cx="765238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Soru Örnekleri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591675" y="8386465"/>
            <a:ext cx="74295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tr-TR" sz="2400"/>
          </a:p>
        </p:txBody>
      </p:sp>
      <p:sp>
        <p:nvSpPr>
          <p:cNvPr id="23" name="Text 21"/>
          <p:cNvSpPr/>
          <p:nvPr/>
        </p:nvSpPr>
        <p:spPr>
          <a:xfrm>
            <a:off x="9725025" y="8434090"/>
            <a:ext cx="738568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"3. sınıf öğrencilerinin listesi?"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591675" y="8815090"/>
            <a:ext cx="7429500" cy="342900"/>
          </a:xfrm>
          <a:prstGeom prst="roundRect">
            <a:avLst>
              <a:gd name="adj" fmla="val 22222"/>
            </a:avLst>
          </a:prstGeom>
          <a:solidFill>
            <a:srgbClr val="F5F3FF"/>
          </a:solidFill>
          <a:ln/>
        </p:spPr>
        <p:txBody>
          <a:bodyPr/>
          <a:lstStyle/>
          <a:p>
            <a:endParaRPr lang="tr-TR" sz="2400"/>
          </a:p>
        </p:txBody>
      </p:sp>
      <p:sp>
        <p:nvSpPr>
          <p:cNvPr id="25" name="Text 23"/>
          <p:cNvSpPr/>
          <p:nvPr/>
        </p:nvSpPr>
        <p:spPr>
          <a:xfrm>
            <a:off x="9725025" y="8862715"/>
            <a:ext cx="738568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"Ahmet </a:t>
            </a:r>
            <a:r>
              <a:rPr lang="en-US" sz="1600" dirty="0" err="1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Hoca</a:t>
            </a:r>
            <a:r>
              <a:rPr lang="tr-TR" sz="160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hangi dersleri veriyor</a:t>
            </a:r>
            <a:r>
              <a:rPr lang="en-US" sz="160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?"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591675" y="9243715"/>
            <a:ext cx="7429500" cy="342900"/>
          </a:xfrm>
          <a:prstGeom prst="roundRect">
            <a:avLst>
              <a:gd name="adj" fmla="val 22222"/>
            </a:avLst>
          </a:prstGeom>
          <a:solidFill>
            <a:srgbClr val="ECFEFF"/>
          </a:solidFill>
          <a:ln/>
        </p:spPr>
        <p:txBody>
          <a:bodyPr/>
          <a:lstStyle/>
          <a:p>
            <a:endParaRPr lang="tr-TR" sz="2400"/>
          </a:p>
        </p:txBody>
      </p:sp>
      <p:sp>
        <p:nvSpPr>
          <p:cNvPr id="27" name="Text 25"/>
          <p:cNvSpPr/>
          <p:nvPr/>
        </p:nvSpPr>
        <p:spPr>
          <a:xfrm>
            <a:off x="9725025" y="9281815"/>
            <a:ext cx="738568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"Python nedir?"</a:t>
            </a:r>
            <a:endParaRPr lang="en-US" sz="1600" dirty="0"/>
          </a:p>
        </p:txBody>
      </p:sp>
      <p:pic>
        <p:nvPicPr>
          <p:cNvPr id="35" name="Resim 34">
            <a:extLst>
              <a:ext uri="{FF2B5EF4-FFF2-40B4-BE49-F238E27FC236}">
                <a16:creationId xmlns:a16="http://schemas.microsoft.com/office/drawing/2014/main" id="{E878B088-8113-FF9D-27A4-EA2737A8C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258" y="2465784"/>
            <a:ext cx="10870533" cy="493960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52500" y="914400"/>
            <a:ext cx="409426" cy="257175"/>
          </a:xfrm>
          <a:prstGeom prst="roundRect">
            <a:avLst>
              <a:gd name="adj" fmla="val 18519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1047750" y="942975"/>
            <a:ext cx="29512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0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76226" y="938213"/>
            <a:ext cx="150762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02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DEĞERLENDIRME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952500" y="1323975"/>
            <a:ext cx="16874490" cy="614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</a:t>
            </a:r>
            <a:r>
              <a:rPr lang="en-US" sz="4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değerlendirmesi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52500" y="2014240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Performans gözlemleri ve maliyet analizi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" y="2700040"/>
            <a:ext cx="16383000" cy="933450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tr-TR" sz="2000"/>
          </a:p>
        </p:txBody>
      </p:sp>
      <p:sp>
        <p:nvSpPr>
          <p:cNvPr id="9" name="Shape 7"/>
          <p:cNvSpPr/>
          <p:nvPr/>
        </p:nvSpPr>
        <p:spPr>
          <a:xfrm>
            <a:off x="952500" y="3623965"/>
            <a:ext cx="16383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tr-TR" sz="2000"/>
          </a:p>
        </p:txBody>
      </p:sp>
      <p:sp>
        <p:nvSpPr>
          <p:cNvPr id="10" name="Shape 8"/>
          <p:cNvSpPr/>
          <p:nvPr/>
        </p:nvSpPr>
        <p:spPr>
          <a:xfrm>
            <a:off x="952500" y="2700040"/>
            <a:ext cx="16383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tr-TR" sz="2000"/>
          </a:p>
        </p:txBody>
      </p:sp>
      <p:sp>
        <p:nvSpPr>
          <p:cNvPr id="11" name="Shape 9"/>
          <p:cNvSpPr/>
          <p:nvPr/>
        </p:nvSpPr>
        <p:spPr>
          <a:xfrm>
            <a:off x="952500" y="2700040"/>
            <a:ext cx="47625" cy="93345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tr-TR" sz="2000"/>
          </a:p>
        </p:txBody>
      </p:sp>
      <p:sp>
        <p:nvSpPr>
          <p:cNvPr id="12" name="Shape 10"/>
          <p:cNvSpPr/>
          <p:nvPr/>
        </p:nvSpPr>
        <p:spPr>
          <a:xfrm>
            <a:off x="17325975" y="2700040"/>
            <a:ext cx="9525" cy="93345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tr-TR" sz="2000"/>
          </a:p>
        </p:txBody>
      </p:sp>
      <p:sp>
        <p:nvSpPr>
          <p:cNvPr id="13" name="Shape 11"/>
          <p:cNvSpPr/>
          <p:nvPr/>
        </p:nvSpPr>
        <p:spPr>
          <a:xfrm>
            <a:off x="1323974" y="2995315"/>
            <a:ext cx="1552573" cy="342900"/>
          </a:xfrm>
          <a:prstGeom prst="roundRect">
            <a:avLst>
              <a:gd name="adj" fmla="val 22222"/>
            </a:avLst>
          </a:prstGeom>
          <a:solidFill>
            <a:srgbClr val="DCFCE7"/>
          </a:solidFill>
          <a:ln/>
        </p:spPr>
        <p:txBody>
          <a:bodyPr/>
          <a:lstStyle/>
          <a:p>
            <a:endParaRPr lang="tr-TR" sz="2000"/>
          </a:p>
        </p:txBody>
      </p:sp>
      <p:sp>
        <p:nvSpPr>
          <p:cNvPr id="14" name="Text 12"/>
          <p:cNvSpPr/>
          <p:nvPr/>
        </p:nvSpPr>
        <p:spPr>
          <a:xfrm>
            <a:off x="1338114" y="2995315"/>
            <a:ext cx="151462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DB_QUERY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00401" y="3013115"/>
            <a:ext cx="1401127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Basit sorgularda yüksek başarı. JOIN gerektirenlerde </a:t>
            </a: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self-correction </a:t>
            </a: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devreye girip doğru sonuç üretiyor.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52500" y="4402038"/>
            <a:ext cx="16383000" cy="933450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tr-TR" sz="2000"/>
          </a:p>
        </p:txBody>
      </p:sp>
      <p:sp>
        <p:nvSpPr>
          <p:cNvPr id="17" name="Shape 15"/>
          <p:cNvSpPr/>
          <p:nvPr/>
        </p:nvSpPr>
        <p:spPr>
          <a:xfrm>
            <a:off x="952500" y="5325963"/>
            <a:ext cx="16383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tr-TR" sz="2000"/>
          </a:p>
        </p:txBody>
      </p:sp>
      <p:sp>
        <p:nvSpPr>
          <p:cNvPr id="18" name="Shape 16"/>
          <p:cNvSpPr/>
          <p:nvPr/>
        </p:nvSpPr>
        <p:spPr>
          <a:xfrm>
            <a:off x="952500" y="4402038"/>
            <a:ext cx="16383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tr-TR" sz="2000"/>
          </a:p>
        </p:txBody>
      </p:sp>
      <p:sp>
        <p:nvSpPr>
          <p:cNvPr id="19" name="Shape 17"/>
          <p:cNvSpPr/>
          <p:nvPr/>
        </p:nvSpPr>
        <p:spPr>
          <a:xfrm>
            <a:off x="952500" y="4402038"/>
            <a:ext cx="47625" cy="93345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tr-TR" sz="2000"/>
          </a:p>
        </p:txBody>
      </p:sp>
      <p:sp>
        <p:nvSpPr>
          <p:cNvPr id="20" name="Shape 18"/>
          <p:cNvSpPr/>
          <p:nvPr/>
        </p:nvSpPr>
        <p:spPr>
          <a:xfrm>
            <a:off x="17325975" y="4402038"/>
            <a:ext cx="9525" cy="93345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tr-TR" sz="2000"/>
          </a:p>
        </p:txBody>
      </p:sp>
      <p:sp>
        <p:nvSpPr>
          <p:cNvPr id="21" name="Shape 19"/>
          <p:cNvSpPr/>
          <p:nvPr/>
        </p:nvSpPr>
        <p:spPr>
          <a:xfrm>
            <a:off x="1323974" y="4697313"/>
            <a:ext cx="1552573" cy="342900"/>
          </a:xfrm>
          <a:prstGeom prst="roundRect">
            <a:avLst>
              <a:gd name="adj" fmla="val 22222"/>
            </a:avLst>
          </a:prstGeom>
          <a:solidFill>
            <a:srgbClr val="DCFCE7"/>
          </a:solidFill>
          <a:ln/>
        </p:spPr>
        <p:txBody>
          <a:bodyPr/>
          <a:lstStyle/>
          <a:p>
            <a:endParaRPr lang="tr-TR" sz="2000"/>
          </a:p>
        </p:txBody>
      </p:sp>
      <p:sp>
        <p:nvSpPr>
          <p:cNvPr id="22" name="Text 20"/>
          <p:cNvSpPr/>
          <p:nvPr/>
        </p:nvSpPr>
        <p:spPr>
          <a:xfrm>
            <a:off x="1338114" y="4697313"/>
            <a:ext cx="151462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200401" y="4719876"/>
            <a:ext cx="1401127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Türkçe belgelerden alakalı chunk bulma başarılı; multilingual model çok dilli içerikte etkin.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52500" y="6104036"/>
            <a:ext cx="16383000" cy="933450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tr-TR" sz="2000"/>
          </a:p>
        </p:txBody>
      </p:sp>
      <p:sp>
        <p:nvSpPr>
          <p:cNvPr id="25" name="Shape 23"/>
          <p:cNvSpPr/>
          <p:nvPr/>
        </p:nvSpPr>
        <p:spPr>
          <a:xfrm>
            <a:off x="952500" y="7027961"/>
            <a:ext cx="16383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tr-TR" sz="2000"/>
          </a:p>
        </p:txBody>
      </p:sp>
      <p:sp>
        <p:nvSpPr>
          <p:cNvPr id="26" name="Shape 24"/>
          <p:cNvSpPr/>
          <p:nvPr/>
        </p:nvSpPr>
        <p:spPr>
          <a:xfrm>
            <a:off x="952500" y="6104036"/>
            <a:ext cx="16383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tr-TR" sz="2000"/>
          </a:p>
        </p:txBody>
      </p:sp>
      <p:sp>
        <p:nvSpPr>
          <p:cNvPr id="27" name="Shape 25"/>
          <p:cNvSpPr/>
          <p:nvPr/>
        </p:nvSpPr>
        <p:spPr>
          <a:xfrm>
            <a:off x="952500" y="6104036"/>
            <a:ext cx="47625" cy="93345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tr-TR" sz="2000"/>
          </a:p>
        </p:txBody>
      </p:sp>
      <p:sp>
        <p:nvSpPr>
          <p:cNvPr id="28" name="Shape 26"/>
          <p:cNvSpPr/>
          <p:nvPr/>
        </p:nvSpPr>
        <p:spPr>
          <a:xfrm>
            <a:off x="17325975" y="6104036"/>
            <a:ext cx="9525" cy="93345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tr-TR" sz="2000"/>
          </a:p>
        </p:txBody>
      </p:sp>
      <p:sp>
        <p:nvSpPr>
          <p:cNvPr id="29" name="Shape 27"/>
          <p:cNvSpPr/>
          <p:nvPr/>
        </p:nvSpPr>
        <p:spPr>
          <a:xfrm>
            <a:off x="1323974" y="6399311"/>
            <a:ext cx="1552573" cy="342900"/>
          </a:xfrm>
          <a:prstGeom prst="roundRect">
            <a:avLst>
              <a:gd name="adj" fmla="val 22222"/>
            </a:avLst>
          </a:prstGeom>
          <a:solidFill>
            <a:srgbClr val="FEF9C3"/>
          </a:solidFill>
          <a:ln/>
        </p:spPr>
        <p:txBody>
          <a:bodyPr/>
          <a:lstStyle/>
          <a:p>
            <a:endParaRPr lang="tr-TR" sz="2000"/>
          </a:p>
        </p:txBody>
      </p:sp>
      <p:sp>
        <p:nvSpPr>
          <p:cNvPr id="30" name="Text 28"/>
          <p:cNvSpPr/>
          <p:nvPr/>
        </p:nvSpPr>
        <p:spPr>
          <a:xfrm>
            <a:off x="1338114" y="6399311"/>
            <a:ext cx="151462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3200400" y="6369487"/>
            <a:ext cx="14011275" cy="4025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tr-TR" sz="2000" dirty="0">
                <a:latin typeface="Arial" panose="020B0604020202020204" pitchFamily="34" charset="0"/>
                <a:cs typeface="Arial" panose="020B0604020202020204" pitchFamily="34" charset="0"/>
              </a:rPr>
              <a:t>Sorgu </a:t>
            </a:r>
            <a:r>
              <a:rPr lang="tr-TR" sz="2000" dirty="0" err="1">
                <a:latin typeface="Arial" panose="020B0604020202020204" pitchFamily="34" charset="0"/>
                <a:cs typeface="Arial" panose="020B0604020202020204" pitchFamily="34" charset="0"/>
              </a:rPr>
              <a:t>Bağlamlaştırma</a:t>
            </a:r>
            <a:r>
              <a:rPr lang="tr-TR" sz="2000" dirty="0">
                <a:latin typeface="Arial" panose="020B0604020202020204" pitchFamily="34" charset="0"/>
                <a:cs typeface="Arial" panose="020B0604020202020204" pitchFamily="34" charset="0"/>
              </a:rPr>
              <a:t> yöntemiyle ardışık sorulardaki anlam kaymaları önlenmiş ve doğruluk artırılmıştır.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76312" y="7806035"/>
            <a:ext cx="16383000" cy="933450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tr-TR" sz="2000"/>
          </a:p>
        </p:txBody>
      </p:sp>
      <p:sp>
        <p:nvSpPr>
          <p:cNvPr id="33" name="Shape 31"/>
          <p:cNvSpPr/>
          <p:nvPr/>
        </p:nvSpPr>
        <p:spPr>
          <a:xfrm>
            <a:off x="976312" y="8729960"/>
            <a:ext cx="16383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tr-TR" sz="2000"/>
          </a:p>
        </p:txBody>
      </p:sp>
      <p:sp>
        <p:nvSpPr>
          <p:cNvPr id="34" name="Shape 32"/>
          <p:cNvSpPr/>
          <p:nvPr/>
        </p:nvSpPr>
        <p:spPr>
          <a:xfrm>
            <a:off x="976312" y="7806035"/>
            <a:ext cx="16383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tr-TR" sz="2000"/>
          </a:p>
        </p:txBody>
      </p:sp>
      <p:sp>
        <p:nvSpPr>
          <p:cNvPr id="35" name="Shape 33"/>
          <p:cNvSpPr/>
          <p:nvPr/>
        </p:nvSpPr>
        <p:spPr>
          <a:xfrm>
            <a:off x="976312" y="7806035"/>
            <a:ext cx="47625" cy="9334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tr-TR" sz="2000"/>
          </a:p>
        </p:txBody>
      </p:sp>
      <p:sp>
        <p:nvSpPr>
          <p:cNvPr id="36" name="Shape 34"/>
          <p:cNvSpPr/>
          <p:nvPr/>
        </p:nvSpPr>
        <p:spPr>
          <a:xfrm>
            <a:off x="17349787" y="7806035"/>
            <a:ext cx="9525" cy="93345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tr-TR" sz="2000"/>
          </a:p>
        </p:txBody>
      </p:sp>
      <p:sp>
        <p:nvSpPr>
          <p:cNvPr id="37" name="Shape 35"/>
          <p:cNvSpPr/>
          <p:nvPr/>
        </p:nvSpPr>
        <p:spPr>
          <a:xfrm>
            <a:off x="1347786" y="8101310"/>
            <a:ext cx="1552573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tr-TR" sz="2000"/>
          </a:p>
        </p:txBody>
      </p:sp>
      <p:sp>
        <p:nvSpPr>
          <p:cNvPr id="38" name="Text 36"/>
          <p:cNvSpPr/>
          <p:nvPr/>
        </p:nvSpPr>
        <p:spPr>
          <a:xfrm>
            <a:off x="1361926" y="8101310"/>
            <a:ext cx="151462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Maliyet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3224213" y="8071486"/>
            <a:ext cx="13987462" cy="3428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tr-TR" sz="2000" dirty="0">
                <a:latin typeface="Arial" panose="020B0604020202020204" pitchFamily="34" charset="0"/>
                <a:cs typeface="Arial" panose="020B0604020202020204" pitchFamily="34" charset="0"/>
              </a:rPr>
              <a:t>GPT-4o-mini ile $0.0004, Gemini Flash ile $0.0001 düşük mesaj başı maliyet.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52500" y="914400"/>
            <a:ext cx="384125" cy="257175"/>
          </a:xfrm>
          <a:prstGeom prst="roundRect">
            <a:avLst>
              <a:gd name="adj" fmla="val 18519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1047750" y="942975"/>
            <a:ext cx="26982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0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50925" y="938213"/>
            <a:ext cx="205829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02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GELECEK ÇALIŞMALAR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952500" y="1323975"/>
            <a:ext cx="16874490" cy="614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Geliştirme </a:t>
            </a:r>
            <a:r>
              <a:rPr lang="en-US" sz="4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planı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952500" y="2319040"/>
            <a:ext cx="8058150" cy="3507730"/>
          </a:xfrm>
          <a:prstGeom prst="roundRect">
            <a:avLst>
              <a:gd name="adj" fmla="val 434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8575" dist="9525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962025" y="2328565"/>
            <a:ext cx="8039100" cy="5715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1266825" y="2633365"/>
            <a:ext cx="765238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Konuşma Kalıcılığı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66825" y="3207246"/>
            <a:ext cx="7530811" cy="1461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just">
              <a:lnSpc>
                <a:spcPct val="155000"/>
              </a:lnSpc>
            </a:pPr>
            <a:r>
              <a:rPr lang="tr-TR" sz="200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Sohbet geçmişinin sunucu kapansa bile kaybolmaması için </a:t>
            </a:r>
            <a:r>
              <a:rPr lang="tr-TR" sz="2000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r>
              <a:rPr lang="tr-TR" sz="200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tabanlı kalıcı veri depolama altyapısının kurulması.</a:t>
            </a:r>
            <a:endParaRPr lang="en-US" sz="2400" dirty="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277350" y="2319040"/>
            <a:ext cx="8058150" cy="3507730"/>
          </a:xfrm>
          <a:prstGeom prst="roundRect">
            <a:avLst>
              <a:gd name="adj" fmla="val 434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8575" dist="9525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9286875" y="2328565"/>
            <a:ext cx="8039100" cy="5715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9591675" y="2633365"/>
            <a:ext cx="765238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Kullanıcı Girişi &amp; İzolasyon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591675" y="3207246"/>
            <a:ext cx="7530811" cy="1461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tr-TR" sz="200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Güvenli kullanıcı giriş (login) sisteminin entegre edilmesi ve her kullanıcının yalnızca kendi yüklediği belgelere erişebilmesi.</a:t>
            </a:r>
          </a:p>
        </p:txBody>
      </p:sp>
      <p:sp>
        <p:nvSpPr>
          <p:cNvPr id="15" name="Shape 13"/>
          <p:cNvSpPr/>
          <p:nvPr/>
        </p:nvSpPr>
        <p:spPr>
          <a:xfrm>
            <a:off x="952500" y="6093470"/>
            <a:ext cx="8058150" cy="3507730"/>
          </a:xfrm>
          <a:prstGeom prst="roundRect">
            <a:avLst>
              <a:gd name="adj" fmla="val 434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8575" dist="9525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962025" y="6102995"/>
            <a:ext cx="8039100" cy="571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1266825" y="6407795"/>
            <a:ext cx="765238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tr-TR" sz="2400" b="1" dirty="0">
                <a:latin typeface="Arial" panose="020B0604020202020204" pitchFamily="34" charset="0"/>
                <a:cs typeface="Arial" panose="020B0604020202020204" pitchFamily="34" charset="0"/>
              </a:rPr>
              <a:t>Web Entegrasyonu (</a:t>
            </a:r>
            <a:r>
              <a:rPr lang="tr-T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Widget</a:t>
            </a:r>
            <a:r>
              <a:rPr lang="tr-TR" sz="24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66825" y="6981676"/>
            <a:ext cx="7530811" cy="1461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just">
              <a:lnSpc>
                <a:spcPct val="155000"/>
              </a:lnSpc>
            </a:pPr>
            <a:r>
              <a:rPr lang="tr-TR" sz="200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Sistemin harici web sitelerine tek satır kodla yerleştirilebilmesini sağlayan JS kütüphanesinin (SDK) ve sohbet balonu arayüzünün tasarlanması.</a:t>
            </a:r>
            <a:endParaRPr lang="tr-TR" sz="3200" dirty="0">
              <a:solidFill>
                <a:srgbClr val="64748B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277350" y="6093470"/>
            <a:ext cx="8058150" cy="3507730"/>
          </a:xfrm>
          <a:prstGeom prst="roundRect">
            <a:avLst>
              <a:gd name="adj" fmla="val 434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8575" dist="9525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9286875" y="6102995"/>
            <a:ext cx="8039100" cy="571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9591675" y="6407795"/>
            <a:ext cx="765238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591675" y="6981676"/>
            <a:ext cx="7530811" cy="1461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just">
              <a:lnSpc>
                <a:spcPct val="155000"/>
              </a:lnSpc>
            </a:pPr>
            <a:r>
              <a:rPr lang="tr-TR" sz="200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Türkçe akademik dil becerisini ve terim hakimiyetini artırmak amacıyla, sisteme özel bir LLM modelinin eğitilmesi (</a:t>
            </a:r>
            <a:r>
              <a:rPr lang="tr-TR" sz="2000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fine-tuning</a:t>
            </a:r>
            <a:r>
              <a:rPr lang="tr-TR" sz="200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en-US" sz="2400" dirty="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14859000" y="-1333500"/>
            <a:ext cx="4572000" cy="4572000"/>
          </a:xfrm>
          <a:prstGeom prst="ellipse">
            <a:avLst/>
          </a:prstGeom>
          <a:solidFill>
            <a:srgbClr val="1E40AF">
              <a:alpha val="5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-1143000" y="7048500"/>
            <a:ext cx="4953000" cy="4953000"/>
          </a:xfrm>
          <a:prstGeom prst="ellipse">
            <a:avLst/>
          </a:prstGeom>
          <a:solidFill>
            <a:srgbClr val="1D4ED8">
              <a:alpha val="45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3910427" y="3412778"/>
            <a:ext cx="10466997" cy="8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Dinlediğiniz için teşekkürler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8715375" y="4578548"/>
            <a:ext cx="857250" cy="47625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7901880" y="4969073"/>
            <a:ext cx="248409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Egemen Bozca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514802" y="5483423"/>
            <a:ext cx="325839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Bilgisayar Mühendisliği · 2026</a:t>
            </a:r>
            <a:endParaRPr lang="en-US" sz="18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923</Words>
  <Application>Microsoft Office PowerPoint</Application>
  <PresentationFormat>Özel</PresentationFormat>
  <Paragraphs>259</Paragraphs>
  <Slides>12</Slides>
  <Notes>12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5" baseType="lpstr">
      <vt:lpstr>Arial</vt:lpstr>
      <vt:lpstr>Courier New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Egemen Bozca</cp:lastModifiedBy>
  <cp:revision>46</cp:revision>
  <dcterms:created xsi:type="dcterms:W3CDTF">2026-06-10T17:02:47Z</dcterms:created>
  <dcterms:modified xsi:type="dcterms:W3CDTF">2026-06-10T23:49:45Z</dcterms:modified>
</cp:coreProperties>
</file>